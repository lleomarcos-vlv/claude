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hyperlink" Target="https://wa.me/5516991019797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hyperlink" Target="https://wa.me/5516991019797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4.png"/><Relationship Id="rId9" Type="http://schemas.openxmlformats.org/officeDocument/2006/relationships/hyperlink" Target="https://wa.me/5516991019797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4.png"/><Relationship Id="rId8" Type="http://schemas.openxmlformats.org/officeDocument/2006/relationships/hyperlink" Target="https://wa.me/551699101979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hyperlink" Target="https://wa.me/5516991019797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14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4.png"/><Relationship Id="rId8" Type="http://schemas.openxmlformats.org/officeDocument/2006/relationships/hyperlink" Target="https://wa.me/5516991019797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6.png"/><Relationship Id="rId4" Type="http://schemas.openxmlformats.org/officeDocument/2006/relationships/hyperlink" Target="https://wa.me/5516991019797" TargetMode="External"/><Relationship Id="rId5" Type="http://schemas.openxmlformats.org/officeDocument/2006/relationships/image" Target="../media/image25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12_210x206_1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7416000"/>
          </a:xfrm>
          <a:prstGeom prst="rect">
            <a:avLst/>
          </a:prstGeom>
        </p:spPr>
      </p:pic>
      <p:pic>
        <p:nvPicPr>
          <p:cNvPr id="4" name="Picture 3" descr="grad_5ad0b07d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0000" cy="2304000"/>
          </a:xfrm>
          <a:prstGeom prst="rect">
            <a:avLst/>
          </a:prstGeom>
        </p:spPr>
      </p:pic>
      <p:pic>
        <p:nvPicPr>
          <p:cNvPr id="5" name="Picture 4" descr="grad_dbd8d59d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56000"/>
            <a:ext cx="7560000" cy="3960000"/>
          </a:xfrm>
          <a:prstGeom prst="rect">
            <a:avLst/>
          </a:prstGeom>
        </p:spPr>
      </p:pic>
      <p:pic>
        <p:nvPicPr>
          <p:cNvPr id="6" name="Picture 5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" y="576000"/>
            <a:ext cx="2291195" cy="3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24000" y="576000"/>
            <a:ext cx="2160000" cy="37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DESDE 2015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00" y="6336000"/>
            <a:ext cx="504000" cy="252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00" y="644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VIDROS E ESQUADRIAS DE ALUMÍNIO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6732000"/>
            <a:ext cx="6408000" cy="14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64"/>
              </a:lnSpc>
            </a:pPr>
            <a:r>
              <a:rPr sz="5600" b="1" spc="28">
                <a:solidFill>
                  <a:srgbClr val="F4F2EE"/>
                </a:solidFill>
                <a:latin typeface="Barlow Condensed"/>
              </a:rPr>
              <a:t>QUALIDADE QUE</a:t>
            </a:r>
          </a:p>
          <a:p>
            <a:pPr algn="l">
              <a:lnSpc>
                <a:spcPts val="5264"/>
              </a:lnSpc>
            </a:pPr>
            <a:r>
              <a:rPr sz="5600" b="1" spc="28">
                <a:solidFill>
                  <a:srgbClr val="F4F2EE"/>
                </a:solidFill>
                <a:latin typeface="Barlow Condensed"/>
              </a:rPr>
              <a:t>VALORIZA SEU </a:t>
            </a:r>
            <a:r>
              <a:rPr sz="5600" b="1" spc="28">
                <a:solidFill>
                  <a:srgbClr val="C9A26B"/>
                </a:solidFill>
                <a:latin typeface="Barlow Condensed"/>
              </a:rPr>
              <a:t>IMÓVEL.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8208000"/>
            <a:ext cx="6048000" cy="86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5"/>
              </a:lnSpc>
            </a:pPr>
            <a:r>
              <a:rPr sz="1700" b="0">
                <a:solidFill>
                  <a:srgbClr val="D9D6D0"/>
                </a:solidFill>
                <a:latin typeface="Barlow"/>
              </a:rPr>
              <a:t>Soluções sob medida para quem busca beleza, funcionalidade e um acabamento que faz a diferença.</a:t>
            </a:r>
          </a:p>
        </p:txBody>
      </p:sp>
      <p:sp>
        <p:nvSpPr>
          <p:cNvPr id="12" name="Rounded Rectangle 11">
            <a:hlinkClick r:id="rId6"/>
          </p:cNvPr>
          <p:cNvSpPr/>
          <p:nvPr/>
        </p:nvSpPr>
        <p:spPr>
          <a:xfrm>
            <a:off x="576000" y="9324000"/>
            <a:ext cx="6408000" cy="792000"/>
          </a:xfrm>
          <a:prstGeom prst="roundRect">
            <a:avLst>
              <a:gd name="adj" fmla="val 7272"/>
            </a:avLst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>
            <a:hlinkClick r:id="rId6"/>
          </p:cNvPr>
          <p:cNvSpPr txBox="1"/>
          <p:nvPr/>
        </p:nvSpPr>
        <p:spPr>
          <a:xfrm>
            <a:off x="828000" y="9324000"/>
            <a:ext cx="324000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839"/>
              </a:lnSpc>
            </a:pPr>
            <a:r>
              <a:rPr sz="1600" b="1" spc="96">
                <a:solidFill>
                  <a:srgbClr val="0E0F11"/>
                </a:solidFill>
                <a:latin typeface="Barlow Condensed"/>
              </a:rPr>
              <a:t>SOLICITE SEU ORÇAMENTO</a:t>
            </a:r>
          </a:p>
          <a:p>
            <a:pPr algn="l">
              <a:lnSpc>
                <a:spcPts val="1839"/>
              </a:lnSpc>
            </a:pPr>
            <a:r>
              <a:rPr sz="1600" b="1" spc="96">
                <a:solidFill>
                  <a:srgbClr val="3B2E1C"/>
                </a:solidFill>
                <a:latin typeface="Barlow Condensed"/>
              </a:rPr>
              <a:t>Fale com o Felipe pelo WhatsApp</a:t>
            </a:r>
          </a:p>
        </p:txBody>
      </p:sp>
      <p:sp>
        <p:nvSpPr>
          <p:cNvPr id="14" name="TextBox 13">
            <a:hlinkClick r:id="rId6"/>
          </p:cNvPr>
          <p:cNvSpPr txBox="1"/>
          <p:nvPr/>
        </p:nvSpPr>
        <p:spPr>
          <a:xfrm>
            <a:off x="3816000" y="9324000"/>
            <a:ext cx="2916000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3000"/>
              </a:lnSpc>
            </a:pPr>
            <a:r>
              <a:rPr sz="3000" b="1">
                <a:solidFill>
                  <a:srgbClr val="0E0F11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07_210x122_33b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4392000"/>
          </a:xfrm>
          <a:prstGeom prst="rect">
            <a:avLst/>
          </a:prstGeom>
        </p:spPr>
      </p:pic>
      <p:pic>
        <p:nvPicPr>
          <p:cNvPr id="4" name="Picture 3" descr="grad_4a65fe5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2000"/>
            <a:ext cx="7560000" cy="216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00" y="3960000"/>
            <a:ext cx="504000" cy="252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4068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QUEM SOMOS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4356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ESPECIALISTAS EM VIDROS</a:t>
            </a:r>
          </a:p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E ESQUADRIAS DE </a:t>
            </a:r>
            <a:r>
              <a:rPr sz="4200" b="1">
                <a:solidFill>
                  <a:srgbClr val="C9A26B"/>
                </a:solidFill>
                <a:latin typeface="Barlow Condensed"/>
              </a:rPr>
              <a:t>ALUMÍNIO.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5616000"/>
            <a:ext cx="6408000" cy="23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414"/>
              </a:lnSpc>
            </a:pPr>
            <a:r>
              <a:rPr sz="1700" b="0">
                <a:solidFill>
                  <a:srgbClr val="D9D6D0"/>
                </a:solidFill>
                <a:latin typeface="Barlow"/>
              </a:rPr>
              <a:t>A JP Alumínios nasceu com um objetivo claro: oferecer soluções em vidros e esquadrias de alumínio que unem durabilidade, segurança e elegância.</a:t>
            </a:r>
          </a:p>
          <a:p>
            <a:pPr algn="l">
              <a:lnSpc>
                <a:spcPts val="2414"/>
              </a:lnSpc>
              <a:spcBef>
                <a:spcPts val="900"/>
              </a:spcBef>
            </a:pPr>
            <a:r>
              <a:rPr sz="1700" b="0">
                <a:solidFill>
                  <a:srgbClr val="D9D6D0"/>
                </a:solidFill>
                <a:latin typeface="Barlow"/>
              </a:rPr>
              <a:t>Ao longo dos anos, construímos relações sólidas e de confiança com nossos clientes. É esse mesmo cuidado que queremos levar para o seu projeto.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" y="8316000"/>
            <a:ext cx="1944000" cy="216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8460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</a:pPr>
            <a:r>
              <a:rPr sz="2300" b="1" spc="46">
                <a:solidFill>
                  <a:srgbClr val="F4F2EE"/>
                </a:solidFill>
                <a:latin typeface="Barlow Condensed"/>
              </a:rPr>
              <a:t>2015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8820000"/>
            <a:ext cx="194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</a:pPr>
            <a:r>
              <a:rPr sz="1400" b="0">
                <a:solidFill>
                  <a:srgbClr val="AEB2B8"/>
                </a:solidFill>
                <a:latin typeface="Barlow"/>
              </a:rPr>
              <a:t>ano de fundação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8000" y="8316000"/>
            <a:ext cx="1944000" cy="216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8000" y="8460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</a:pPr>
            <a:r>
              <a:rPr sz="2300" b="1" spc="46">
                <a:solidFill>
                  <a:srgbClr val="F4F2EE"/>
                </a:solidFill>
                <a:latin typeface="Barlow Condensed"/>
              </a:rPr>
              <a:t>3 SEGMENTOS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8000" y="8820000"/>
            <a:ext cx="194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</a:pPr>
            <a:r>
              <a:rPr sz="1400" b="0">
                <a:solidFill>
                  <a:srgbClr val="AEB2B8"/>
                </a:solidFill>
                <a:latin typeface="Barlow"/>
              </a:rPr>
              <a:t>residencial, comercial e industrial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0000" y="8316000"/>
            <a:ext cx="1944000" cy="216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0000" y="8460000"/>
            <a:ext cx="1944000" cy="3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0"/>
              </a:lnSpc>
            </a:pPr>
            <a:r>
              <a:rPr sz="2300" b="1" spc="46">
                <a:solidFill>
                  <a:srgbClr val="F4F2EE"/>
                </a:solidFill>
                <a:latin typeface="Barlow Condensed"/>
              </a:rPr>
              <a:t>6 LINHAS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0" y="8820000"/>
            <a:ext cx="1944000" cy="79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48"/>
              </a:lnSpc>
            </a:pPr>
            <a:r>
              <a:rPr sz="1400" b="0">
                <a:solidFill>
                  <a:srgbClr val="AEB2B8"/>
                </a:solidFill>
                <a:latin typeface="Barlow"/>
              </a:rPr>
              <a:t>de soluções em vidro e alumínio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00" y="10008000"/>
            <a:ext cx="6408000" cy="108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10202400"/>
            <a:ext cx="1221970" cy="201600"/>
          </a:xfrm>
          <a:prstGeom prst="rect">
            <a:avLst/>
          </a:prstGeom>
        </p:spPr>
      </p:pic>
      <p:sp>
        <p:nvSpPr>
          <p:cNvPr id="20" name="TextBox 19">
            <a:hlinkClick r:id="rId5"/>
          </p:cNvPr>
          <p:cNvSpPr txBox="1"/>
          <p:nvPr/>
        </p:nvSpPr>
        <p:spPr>
          <a:xfrm>
            <a:off x="3456000" y="10123200"/>
            <a:ext cx="352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spc="39">
                <a:solidFill>
                  <a:srgbClr val="F4F2EE"/>
                </a:solidFill>
                <a:latin typeface="Barlow Condensed"/>
              </a:rPr>
              <a:t>Orçamentos com Felipe  </a:t>
            </a:r>
            <a:r>
              <a:rPr sz="1300" b="1" spc="39">
                <a:solidFill>
                  <a:srgbClr val="C9A26B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576000"/>
            <a:ext cx="504000" cy="252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O QUE FAZEMOS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972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SOLUÇÕES COMPLETAS</a:t>
            </a:r>
          </a:p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EM VIDRO E </a:t>
            </a:r>
            <a:r>
              <a:rPr sz="4200" b="1">
                <a:solidFill>
                  <a:srgbClr val="C9A26B"/>
                </a:solidFill>
                <a:latin typeface="Barlow Condensed"/>
              </a:rPr>
              <a:t>ALUMÍNIO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124000"/>
            <a:ext cx="6408000" cy="61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</a:pPr>
            <a:r>
              <a:rPr sz="1650" b="0">
                <a:solidFill>
                  <a:srgbClr val="AEB2B8"/>
                </a:solidFill>
                <a:latin typeface="Barlow"/>
              </a:rPr>
              <a:t>Do vão da janela à fachada inteira: conheça as linhas de produtos e serviços da JP Alumínios.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2808000"/>
            <a:ext cx="3096000" cy="2520000"/>
          </a:xfrm>
          <a:prstGeom prst="rect">
            <a:avLst/>
          </a:prstGeom>
          <a:solidFill>
            <a:srgbClr val="181A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013_86x43_8e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2808000"/>
            <a:ext cx="3096000" cy="15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000" y="4500000"/>
            <a:ext cx="2736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1" spc="51">
                <a:solidFill>
                  <a:srgbClr val="F4F2EE"/>
                </a:solidFill>
                <a:latin typeface="Barlow Condensed"/>
              </a:rPr>
              <a:t>ESQUADRIAS DE ALUMÍNIO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4770000"/>
            <a:ext cx="2736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Janelas, portas e venezianas sob medida para cada vão.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2808000"/>
            <a:ext cx="3096000" cy="2520000"/>
          </a:xfrm>
          <a:prstGeom prst="rect">
            <a:avLst/>
          </a:prstGeom>
          <a:solidFill>
            <a:srgbClr val="181A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050_86x43_348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00" y="2808000"/>
            <a:ext cx="3096000" cy="154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8000" y="4500000"/>
            <a:ext cx="2736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1" spc="51">
                <a:solidFill>
                  <a:srgbClr val="F4F2EE"/>
                </a:solidFill>
                <a:latin typeface="Barlow Condensed"/>
              </a:rPr>
              <a:t>PELE DE VIDRO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8000" y="4770000"/>
            <a:ext cx="2736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Fachadas envidraçadas, com mais luz natural e presença.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5508000"/>
            <a:ext cx="3096000" cy="2520000"/>
          </a:xfrm>
          <a:prstGeom prst="rect">
            <a:avLst/>
          </a:prstGeom>
          <a:solidFill>
            <a:srgbClr val="181A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040_86x43_33b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5508000"/>
            <a:ext cx="3096000" cy="1548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6000" y="7200000"/>
            <a:ext cx="2736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1" spc="51">
                <a:solidFill>
                  <a:srgbClr val="F4F2EE"/>
                </a:solidFill>
                <a:latin typeface="Barlow Condensed"/>
              </a:rPr>
              <a:t>ESCADAS E GUARDA-CORPOS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" y="7470000"/>
            <a:ext cx="2736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Corrimãos e guarda-corpos que protegem com visual leve.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8000" y="5508000"/>
            <a:ext cx="3096000" cy="2520000"/>
          </a:xfrm>
          <a:prstGeom prst="rect">
            <a:avLst/>
          </a:prstGeom>
          <a:solidFill>
            <a:srgbClr val="181A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041_86x43_348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8000" y="5508000"/>
            <a:ext cx="3096000" cy="1548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68000" y="7200000"/>
            <a:ext cx="2736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sz="1700" b="1" spc="51">
                <a:solidFill>
                  <a:srgbClr val="F4F2EE"/>
                </a:solidFill>
                <a:latin typeface="Barlow Condensed"/>
              </a:rPr>
              <a:t>BOX PARA BANHEIRO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8000" y="7470000"/>
            <a:ext cx="2736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Box de vidro sob medida, prático e elegante no dia a dia.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8208000"/>
            <a:ext cx="6408000" cy="1584000"/>
          </a:xfrm>
          <a:prstGeom prst="rect">
            <a:avLst/>
          </a:prstGeom>
          <a:solidFill>
            <a:srgbClr val="181A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00" y="8208000"/>
            <a:ext cx="6408000" cy="216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8442000"/>
            <a:ext cx="597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250" b="1" spc="200">
                <a:solidFill>
                  <a:srgbClr val="C9A26B"/>
                </a:solidFill>
                <a:latin typeface="Barlow Condensed"/>
              </a:rPr>
              <a:t>TAMBÉM FAZEMOS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80000" y="8820000"/>
            <a:ext cx="10800" cy="7560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2000" y="8820000"/>
            <a:ext cx="504000" cy="504000"/>
          </a:xfrm>
          <a:prstGeom prst="ellipse">
            <a:avLst/>
          </a:prstGeom>
          <a:noFill/>
          <a:ln w="16200">
            <a:solidFill>
              <a:srgbClr val="C9A26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_espelh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000" y="8928000"/>
            <a:ext cx="288000" cy="288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58000" y="8830800"/>
            <a:ext cx="217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550" b="1" spc="46">
                <a:solidFill>
                  <a:srgbClr val="F4F2EE"/>
                </a:solidFill>
                <a:latin typeface="Barlow Condensed"/>
              </a:rPr>
              <a:t>ESPELHOS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58000" y="9090000"/>
            <a:ext cx="217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Sob medida, para ampliar e valorizar os ambientes.</a:t>
            </a:r>
          </a:p>
        </p:txBody>
      </p:sp>
      <p:sp>
        <p:nvSpPr>
          <p:cNvPr id="31" name="Oval 30"/>
          <p:cNvSpPr/>
          <p:nvPr/>
        </p:nvSpPr>
        <p:spPr>
          <a:xfrm>
            <a:off x="3924000" y="8820000"/>
            <a:ext cx="504000" cy="504000"/>
          </a:xfrm>
          <a:prstGeom prst="ellipse">
            <a:avLst/>
          </a:prstGeom>
          <a:noFill/>
          <a:ln w="16200">
            <a:solidFill>
              <a:srgbClr val="C9A26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_pergola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2000" y="8928000"/>
            <a:ext cx="288000" cy="288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90000" y="8830800"/>
            <a:ext cx="217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550" b="1" spc="46">
                <a:solidFill>
                  <a:srgbClr val="F4F2EE"/>
                </a:solidFill>
                <a:latin typeface="Barlow Condensed"/>
              </a:rPr>
              <a:t>COBERTURAS E PERGOLADOS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000" y="9090000"/>
            <a:ext cx="217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Áreas externas protegidas e mais bem aproveitadas.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00" y="10008000"/>
            <a:ext cx="6408000" cy="108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" y="10202400"/>
            <a:ext cx="1221970" cy="201600"/>
          </a:xfrm>
          <a:prstGeom prst="rect">
            <a:avLst/>
          </a:prstGeom>
        </p:spPr>
      </p:pic>
      <p:sp>
        <p:nvSpPr>
          <p:cNvPr id="37" name="TextBox 36">
            <a:hlinkClick r:id="rId9"/>
          </p:cNvPr>
          <p:cNvSpPr txBox="1"/>
          <p:nvPr/>
        </p:nvSpPr>
        <p:spPr>
          <a:xfrm>
            <a:off x="3456000" y="10123200"/>
            <a:ext cx="352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spc="39">
                <a:solidFill>
                  <a:srgbClr val="F4F2EE"/>
                </a:solidFill>
                <a:latin typeface="Barlow Condensed"/>
              </a:rPr>
              <a:t>Orçamentos com Felipe  </a:t>
            </a:r>
            <a:r>
              <a:rPr sz="1300" b="1" spc="39">
                <a:solidFill>
                  <a:srgbClr val="C9A26B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576000"/>
            <a:ext cx="504000" cy="252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QUALIDADE NOS DETALHES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972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O ACABAMENTO</a:t>
            </a:r>
          </a:p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FAZ A </a:t>
            </a:r>
            <a:r>
              <a:rPr sz="4200" b="1">
                <a:solidFill>
                  <a:srgbClr val="C9A26B"/>
                </a:solidFill>
                <a:latin typeface="Barlow Condensed"/>
              </a:rPr>
              <a:t>DIFERENÇA.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124000"/>
            <a:ext cx="6408000" cy="90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</a:pPr>
            <a:r>
              <a:rPr sz="1650" b="0">
                <a:solidFill>
                  <a:srgbClr val="AEB2B8"/>
                </a:solidFill>
                <a:latin typeface="Barlow"/>
              </a:rPr>
              <a:t>Em vidro e alumínio, a qualidade aparece no alinhamento, no encaixe e no acabamento. Por isso, o cuidado começa na escolha dos materiais e vai até a instalação final.</a:t>
            </a:r>
          </a:p>
        </p:txBody>
      </p:sp>
      <p:pic>
        <p:nvPicPr>
          <p:cNvPr id="7" name="Picture 6" descr="049_104x186_348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3096000"/>
            <a:ext cx="3744000" cy="6696000"/>
          </a:xfrm>
          <a:prstGeom prst="rect">
            <a:avLst/>
          </a:prstGeom>
        </p:spPr>
      </p:pic>
      <p:pic>
        <p:nvPicPr>
          <p:cNvPr id="8" name="Picture 7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6109200"/>
            <a:ext cx="3744000" cy="3682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000" y="9090000"/>
            <a:ext cx="3384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95"/>
              </a:lnSpc>
            </a:pPr>
            <a:r>
              <a:rPr sz="1700" b="1" spc="68">
                <a:solidFill>
                  <a:srgbClr val="F4F2EE"/>
                </a:solidFill>
                <a:latin typeface="Barlow Condensed"/>
              </a:rPr>
              <a:t>PORTAS DE ENTRADA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9378000"/>
            <a:ext cx="338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0">
                <a:solidFill>
                  <a:srgbClr val="D9D6D0"/>
                </a:solidFill>
                <a:latin typeface="Barlow"/>
              </a:rPr>
              <a:t>A primeira impressão de quem chega.</a:t>
            </a:r>
          </a:p>
        </p:txBody>
      </p:sp>
      <p:pic>
        <p:nvPicPr>
          <p:cNvPr id="11" name="Picture 10" descr="037_68x59_3af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000" y="3096000"/>
            <a:ext cx="2448000" cy="2112000"/>
          </a:xfrm>
          <a:prstGeom prst="rect">
            <a:avLst/>
          </a:prstGeom>
        </p:spPr>
      </p:pic>
      <p:pic>
        <p:nvPicPr>
          <p:cNvPr id="12" name="Picture 11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000" y="4046399"/>
            <a:ext cx="2448000" cy="116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98000" y="4776000"/>
            <a:ext cx="2124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VENEZIANAS E BRISES</a:t>
            </a:r>
          </a:p>
        </p:txBody>
      </p:sp>
      <p:pic>
        <p:nvPicPr>
          <p:cNvPr id="14" name="Picture 13" descr="044_68x59_bfa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5388000"/>
            <a:ext cx="2448000" cy="2112000"/>
          </a:xfrm>
          <a:prstGeom prst="rect">
            <a:avLst/>
          </a:prstGeom>
        </p:spPr>
      </p:pic>
      <p:pic>
        <p:nvPicPr>
          <p:cNvPr id="15" name="Picture 14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000" y="6338400"/>
            <a:ext cx="2448000" cy="116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98000" y="7067999"/>
            <a:ext cx="2124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JANELAS SOB MEDIDA</a:t>
            </a:r>
          </a:p>
        </p:txBody>
      </p:sp>
      <p:pic>
        <p:nvPicPr>
          <p:cNvPr id="17" name="Picture 16" descr="047_68x59_944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000" y="7679999"/>
            <a:ext cx="2448000" cy="2112000"/>
          </a:xfrm>
          <a:prstGeom prst="rect">
            <a:avLst/>
          </a:prstGeom>
        </p:spPr>
      </p:pic>
      <p:pic>
        <p:nvPicPr>
          <p:cNvPr id="18" name="Picture 17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000" y="8630400"/>
            <a:ext cx="2448000" cy="116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98000" y="9360000"/>
            <a:ext cx="2124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GUARDA-CORPO DE VIDRO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10008000"/>
            <a:ext cx="6408000" cy="108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00" y="10202400"/>
            <a:ext cx="1221970" cy="201600"/>
          </a:xfrm>
          <a:prstGeom prst="rect">
            <a:avLst/>
          </a:prstGeom>
        </p:spPr>
      </p:pic>
      <p:sp>
        <p:nvSpPr>
          <p:cNvPr id="22" name="TextBox 21">
            <a:hlinkClick r:id="rId8"/>
          </p:cNvPr>
          <p:cNvSpPr txBox="1"/>
          <p:nvPr/>
        </p:nvSpPr>
        <p:spPr>
          <a:xfrm>
            <a:off x="3456000" y="10123200"/>
            <a:ext cx="352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spc="39">
                <a:solidFill>
                  <a:srgbClr val="F4F2EE"/>
                </a:solidFill>
                <a:latin typeface="Barlow Condensed"/>
              </a:rPr>
              <a:t>Orçamentos com Felipe  </a:t>
            </a:r>
            <a:r>
              <a:rPr sz="1300" b="1" spc="39">
                <a:solidFill>
                  <a:srgbClr val="C9A26B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3F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576000"/>
            <a:ext cx="504000" cy="25200"/>
          </a:xfrm>
          <a:prstGeom prst="rect">
            <a:avLst/>
          </a:prstGeom>
          <a:solidFill>
            <a:srgbClr val="8A6A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8A6A3D"/>
                </a:solidFill>
                <a:latin typeface="Barlow Condensed"/>
              </a:rPr>
              <a:t>POR QUE A JP ALUMÍNIOS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972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2"/>
              </a:lnSpc>
            </a:pPr>
            <a:r>
              <a:rPr sz="4200" b="1">
                <a:solidFill>
                  <a:srgbClr val="0E0F11"/>
                </a:solidFill>
                <a:latin typeface="Barlow Condensed"/>
              </a:rPr>
              <a:t>POR QUE CONSIDERAR</a:t>
            </a:r>
          </a:p>
          <a:p>
            <a:pPr algn="l">
              <a:lnSpc>
                <a:spcPts val="4032"/>
              </a:lnSpc>
            </a:pPr>
            <a:r>
              <a:rPr sz="4200" b="1">
                <a:solidFill>
                  <a:srgbClr val="0E0F11"/>
                </a:solidFill>
                <a:latin typeface="Barlow Condensed"/>
              </a:rPr>
              <a:t>A JP </a:t>
            </a:r>
            <a:r>
              <a:rPr sz="4200" b="1">
                <a:solidFill>
                  <a:srgbClr val="8A6A3D"/>
                </a:solidFill>
                <a:latin typeface="Barlow Condensed"/>
              </a:rPr>
              <a:t>ALUMÍNIOS?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124000"/>
            <a:ext cx="6408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</a:pPr>
            <a:r>
              <a:rPr sz="1650" b="0">
                <a:solidFill>
                  <a:srgbClr val="4E5258"/>
                </a:solidFill>
                <a:latin typeface="Barlow"/>
              </a:rPr>
              <a:t>Mais do que escolher uma janela ou um vidro, você está escolhendo quem vai cuidar de uma parte importante do seu imóvel.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00" y="2988000"/>
            <a:ext cx="3024000" cy="10800"/>
          </a:xfrm>
          <a:prstGeom prst="rect">
            <a:avLst/>
          </a:prstGeom>
          <a:solidFill>
            <a:srgbClr val="D6D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3114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8A6A3D"/>
                </a:solidFill>
                <a:latin typeface="Barlow Condense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3510000"/>
            <a:ext cx="302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750" b="1" spc="52">
                <a:solidFill>
                  <a:srgbClr val="0E0F11"/>
                </a:solidFill>
                <a:latin typeface="Barlow Condensed"/>
              </a:rPr>
              <a:t>MAIS DE 10 ANOS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3798000"/>
            <a:ext cx="3024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>
                <a:solidFill>
                  <a:srgbClr val="4E5258"/>
                </a:solidFill>
                <a:latin typeface="Barlow"/>
              </a:rPr>
              <a:t>De experiência em vidros e esquadrias de alumínio, desde 2015.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0000" y="2988000"/>
            <a:ext cx="3024000" cy="10800"/>
          </a:xfrm>
          <a:prstGeom prst="rect">
            <a:avLst/>
          </a:prstGeom>
          <a:solidFill>
            <a:srgbClr val="D6D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0" y="3114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8A6A3D"/>
                </a:solidFill>
                <a:latin typeface="Barlow Condense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0" y="3510000"/>
            <a:ext cx="302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750" b="1" spc="52">
                <a:solidFill>
                  <a:srgbClr val="0E0F11"/>
                </a:solidFill>
                <a:latin typeface="Barlow Condensed"/>
              </a:rPr>
              <a:t>EQUIPE ESPECIALIZADA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0" y="3798000"/>
            <a:ext cx="3024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>
                <a:solidFill>
                  <a:srgbClr val="4E5258"/>
                </a:solidFill>
                <a:latin typeface="Barlow"/>
              </a:rPr>
              <a:t>Profissionais treinados para indicar a solução certa para cada projeto.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00" y="4644000"/>
            <a:ext cx="3024000" cy="10800"/>
          </a:xfrm>
          <a:prstGeom prst="rect">
            <a:avLst/>
          </a:prstGeom>
          <a:solidFill>
            <a:srgbClr val="D6D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00" y="4770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8A6A3D"/>
                </a:solidFill>
                <a:latin typeface="Barlow Condense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" y="5166000"/>
            <a:ext cx="302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750" b="1" spc="52">
                <a:solidFill>
                  <a:srgbClr val="0E0F11"/>
                </a:solidFill>
                <a:latin typeface="Barlow Condensed"/>
              </a:rPr>
              <a:t>SOLUÇÕES SOB MEDIDA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5454000"/>
            <a:ext cx="3024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>
                <a:solidFill>
                  <a:srgbClr val="4E5258"/>
                </a:solidFill>
                <a:latin typeface="Barlow"/>
              </a:rPr>
              <a:t>Personalizadas de acordo com as necessidades de cada cliente.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60000" y="4644000"/>
            <a:ext cx="3024000" cy="10800"/>
          </a:xfrm>
          <a:prstGeom prst="rect">
            <a:avLst/>
          </a:prstGeom>
          <a:solidFill>
            <a:srgbClr val="D6D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0000" y="4770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8A6A3D"/>
                </a:solidFill>
                <a:latin typeface="Barlow Condense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0000" y="5166000"/>
            <a:ext cx="302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750" b="1" spc="52">
                <a:solidFill>
                  <a:srgbClr val="0E0F11"/>
                </a:solidFill>
                <a:latin typeface="Barlow Condensed"/>
              </a:rPr>
              <a:t>SEGURANÇA E CONFORTO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5454000"/>
            <a:ext cx="3024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>
                <a:solidFill>
                  <a:srgbClr val="4E5258"/>
                </a:solidFill>
                <a:latin typeface="Barlow"/>
              </a:rPr>
              <a:t>Aliados à estética do seu projeto de arquitetura.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" y="6300000"/>
            <a:ext cx="3024000" cy="10800"/>
          </a:xfrm>
          <a:prstGeom prst="rect">
            <a:avLst/>
          </a:prstGeom>
          <a:solidFill>
            <a:srgbClr val="D6D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00" y="6426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8A6A3D"/>
                </a:solidFill>
                <a:latin typeface="Barlow Condense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6822000"/>
            <a:ext cx="302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750" b="1" spc="52">
                <a:solidFill>
                  <a:srgbClr val="0E0F11"/>
                </a:solidFill>
                <a:latin typeface="Barlow Condensed"/>
              </a:rPr>
              <a:t>BOM CUSTO-BENEFÍCIO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7110000"/>
            <a:ext cx="3024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>
                <a:solidFill>
                  <a:srgbClr val="4E5258"/>
                </a:solidFill>
                <a:latin typeface="Barlow"/>
              </a:rPr>
              <a:t>Orçamento otimizado, pensado para o que o seu projeto precisa.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0000" y="6300000"/>
            <a:ext cx="3024000" cy="10800"/>
          </a:xfrm>
          <a:prstGeom prst="rect">
            <a:avLst/>
          </a:prstGeom>
          <a:solidFill>
            <a:srgbClr val="D6D2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60000" y="6426000"/>
            <a:ext cx="720000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00"/>
              </a:lnSpc>
            </a:pPr>
            <a:r>
              <a:rPr sz="2600" b="1">
                <a:solidFill>
                  <a:srgbClr val="8A6A3D"/>
                </a:solidFill>
                <a:latin typeface="Barlow Condense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0000" y="6822000"/>
            <a:ext cx="3024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750" b="1" spc="52">
                <a:solidFill>
                  <a:srgbClr val="0E0F11"/>
                </a:solidFill>
                <a:latin typeface="Barlow Condensed"/>
              </a:rPr>
              <a:t>ATENDIMENTO DIRETO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0000" y="7110000"/>
            <a:ext cx="3024000" cy="72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4"/>
              </a:lnSpc>
            </a:pPr>
            <a:r>
              <a:rPr sz="1450" b="0">
                <a:solidFill>
                  <a:srgbClr val="4E5258"/>
                </a:solidFill>
                <a:latin typeface="Barlow"/>
              </a:rPr>
              <a:t>Você fala com o Felipe, tira dúvidas e recebe orientação para escolher bem.</a:t>
            </a:r>
          </a:p>
        </p:txBody>
      </p:sp>
      <p:pic>
        <p:nvPicPr>
          <p:cNvPr id="31" name="Picture 30" descr="046_210x71_47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6000"/>
            <a:ext cx="7560000" cy="2556000"/>
          </a:xfrm>
          <a:prstGeom prst="rect">
            <a:avLst/>
          </a:prstGeom>
        </p:spPr>
      </p:pic>
      <p:pic>
        <p:nvPicPr>
          <p:cNvPr id="32" name="Picture 31" descr="grad_3e872a8a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36000"/>
            <a:ext cx="7560000" cy="2556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6000" y="8568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0"/>
              </a:lnSpc>
            </a:pPr>
            <a:r>
              <a:rPr sz="2400" b="1" spc="24">
                <a:solidFill>
                  <a:srgbClr val="F4F2EE"/>
                </a:solidFill>
                <a:latin typeface="Barlow Condensed"/>
              </a:rPr>
              <a:t>Mais tranquilidade para decidir,</a:t>
            </a:r>
          </a:p>
          <a:p>
            <a:pPr algn="l">
              <a:lnSpc>
                <a:spcPts val="2520"/>
              </a:lnSpc>
            </a:pPr>
            <a:r>
              <a:rPr sz="2400" b="1" spc="24">
                <a:solidFill>
                  <a:srgbClr val="C9A26B"/>
                </a:solidFill>
                <a:latin typeface="Barlow Condensed"/>
              </a:rPr>
              <a:t>do orçamento à instalação.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" y="10008000"/>
            <a:ext cx="6408000" cy="108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00" y="10202400"/>
            <a:ext cx="1221970" cy="201600"/>
          </a:xfrm>
          <a:prstGeom prst="rect">
            <a:avLst/>
          </a:prstGeom>
        </p:spPr>
      </p:pic>
      <p:sp>
        <p:nvSpPr>
          <p:cNvPr id="36" name="TextBox 35">
            <a:hlinkClick r:id="rId5"/>
          </p:cNvPr>
          <p:cNvSpPr txBox="1"/>
          <p:nvPr/>
        </p:nvSpPr>
        <p:spPr>
          <a:xfrm>
            <a:off x="3456000" y="10123200"/>
            <a:ext cx="352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spc="39">
                <a:solidFill>
                  <a:srgbClr val="F4F2EE"/>
                </a:solidFill>
                <a:latin typeface="Barlow Condensed"/>
              </a:rPr>
              <a:t>Orçamentos com Felipe  </a:t>
            </a:r>
            <a:r>
              <a:rPr sz="1300" b="1" spc="39">
                <a:solidFill>
                  <a:srgbClr val="C9A26B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576000"/>
            <a:ext cx="504000" cy="252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00" y="684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APLICAÇÕES E POSSIBILIDADES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972000"/>
            <a:ext cx="6408000" cy="10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IMAGINE ISSO NO</a:t>
            </a:r>
          </a:p>
          <a:p>
            <a:pPr algn="l">
              <a:lnSpc>
                <a:spcPts val="4032"/>
              </a:lnSpc>
            </a:pPr>
            <a:r>
              <a:rPr sz="4200" b="1">
                <a:solidFill>
                  <a:srgbClr val="F4F2EE"/>
                </a:solidFill>
                <a:latin typeface="Barlow Condensed"/>
              </a:rPr>
              <a:t>SEU </a:t>
            </a:r>
            <a:r>
              <a:rPr sz="4200" b="1">
                <a:solidFill>
                  <a:srgbClr val="C9A26B"/>
                </a:solidFill>
                <a:latin typeface="Barlow Condensed"/>
              </a:rPr>
              <a:t>PROJETO.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00" y="2124000"/>
            <a:ext cx="6408000" cy="64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</a:pPr>
            <a:r>
              <a:rPr sz="1650" b="0">
                <a:solidFill>
                  <a:srgbClr val="AEB2B8"/>
                </a:solidFill>
                <a:latin typeface="Barlow"/>
              </a:rPr>
              <a:t>Construindo ou reformando? Cada ambiente pede uma solução diferente, e a JP Alumínios ajuda você a encontrar a sua.</a:t>
            </a:r>
          </a:p>
        </p:txBody>
      </p:sp>
      <p:pic>
        <p:nvPicPr>
          <p:cNvPr id="7" name="Picture 6" descr="045_86x85_3a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3024000"/>
            <a:ext cx="3096000" cy="3060000"/>
          </a:xfrm>
          <a:prstGeom prst="rect">
            <a:avLst/>
          </a:prstGeom>
        </p:spPr>
      </p:pic>
      <p:pic>
        <p:nvPicPr>
          <p:cNvPr id="8" name="Picture 7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4401000"/>
            <a:ext cx="3096000" cy="1683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8000" y="5652000"/>
            <a:ext cx="2772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FACHADAS E ENTRADAS</a:t>
            </a:r>
          </a:p>
        </p:txBody>
      </p:sp>
      <p:pic>
        <p:nvPicPr>
          <p:cNvPr id="10" name="Picture 9" descr="048_86x85_dca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000" y="3024000"/>
            <a:ext cx="3096000" cy="3060000"/>
          </a:xfrm>
          <a:prstGeom prst="rect">
            <a:avLst/>
          </a:prstGeom>
        </p:spPr>
      </p:pic>
      <p:pic>
        <p:nvPicPr>
          <p:cNvPr id="11" name="Picture 10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00" y="4401000"/>
            <a:ext cx="3096000" cy="1683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50000" y="5652000"/>
            <a:ext cx="2772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LAZER E PISCINA</a:t>
            </a:r>
          </a:p>
        </p:txBody>
      </p:sp>
      <p:pic>
        <p:nvPicPr>
          <p:cNvPr id="13" name="Picture 12" descr="015_86x85_3af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" y="6300000"/>
            <a:ext cx="3096000" cy="3060000"/>
          </a:xfrm>
          <a:prstGeom prst="rect">
            <a:avLst/>
          </a:prstGeom>
        </p:spPr>
      </p:pic>
      <p:pic>
        <p:nvPicPr>
          <p:cNvPr id="14" name="Picture 13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7677000"/>
            <a:ext cx="3096000" cy="1683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8000" y="8928000"/>
            <a:ext cx="2772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AMBIENTES INTERNOS</a:t>
            </a:r>
          </a:p>
        </p:txBody>
      </p:sp>
      <p:pic>
        <p:nvPicPr>
          <p:cNvPr id="16" name="Picture 15" descr="023_86x85_3af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8000" y="6300000"/>
            <a:ext cx="3096000" cy="3060000"/>
          </a:xfrm>
          <a:prstGeom prst="rect">
            <a:avLst/>
          </a:prstGeom>
        </p:spPr>
      </p:pic>
      <p:pic>
        <p:nvPicPr>
          <p:cNvPr id="17" name="Picture 16" descr="grad_6d0e30af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000" y="7677000"/>
            <a:ext cx="3096000" cy="1683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50000" y="8928000"/>
            <a:ext cx="2772000" cy="30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92"/>
              </a:lnSpc>
            </a:pPr>
            <a:r>
              <a:rPr sz="1550" b="1" spc="78">
                <a:solidFill>
                  <a:srgbClr val="F4F2EE"/>
                </a:solidFill>
                <a:latin typeface="Barlow Condensed"/>
              </a:rPr>
              <a:t>INTEGRAÇÃO COM A ÁREA EXTERNA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00" y="9504000"/>
            <a:ext cx="640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55"/>
              </a:lnSpc>
            </a:pPr>
            <a:r>
              <a:rPr sz="1300" b="1" spc="156">
                <a:solidFill>
                  <a:srgbClr val="C9A26B"/>
                </a:solidFill>
                <a:latin typeface="Barlow Condensed"/>
              </a:rPr>
              <a:t>CASAS  ·  OBRAS NOVAS  ·  REFORMAS  ·  COMÉRCIOS  ·  INDÚSTRIAS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" y="10008000"/>
            <a:ext cx="6408000" cy="10800"/>
          </a:xfrm>
          <a:prstGeom prst="rect">
            <a:avLst/>
          </a:prstGeom>
          <a:solidFill>
            <a:srgbClr val="3337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00" y="10202400"/>
            <a:ext cx="1221970" cy="201600"/>
          </a:xfrm>
          <a:prstGeom prst="rect">
            <a:avLst/>
          </a:prstGeom>
        </p:spPr>
      </p:pic>
      <p:sp>
        <p:nvSpPr>
          <p:cNvPr id="22" name="TextBox 21">
            <a:hlinkClick r:id="rId8"/>
          </p:cNvPr>
          <p:cNvSpPr txBox="1"/>
          <p:nvPr/>
        </p:nvSpPr>
        <p:spPr>
          <a:xfrm>
            <a:off x="3456000" y="10123200"/>
            <a:ext cx="3528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1755"/>
              </a:lnSpc>
            </a:pPr>
            <a:r>
              <a:rPr sz="1300" b="1" spc="39">
                <a:solidFill>
                  <a:srgbClr val="F4F2EE"/>
                </a:solidFill>
                <a:latin typeface="Barlow Condensed"/>
              </a:rPr>
              <a:t>Orçamentos com Felipe  </a:t>
            </a:r>
            <a:r>
              <a:rPr sz="1300" b="1" spc="39">
                <a:solidFill>
                  <a:srgbClr val="C9A26B"/>
                </a:solidFill>
                <a:latin typeface="Barlow Condensed"/>
              </a:rPr>
              <a:t>(16) 99101-9797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F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038_210x104_9d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3744000"/>
          </a:xfrm>
          <a:prstGeom prst="rect">
            <a:avLst/>
          </a:prstGeom>
        </p:spPr>
      </p:pic>
      <p:pic>
        <p:nvPicPr>
          <p:cNvPr id="4" name="Picture 3" descr="grad_4a65fe5d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8000"/>
            <a:ext cx="7560000" cy="237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000" y="3420000"/>
            <a:ext cx="504000" cy="252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00" y="3528000"/>
            <a:ext cx="640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spc="208">
                <a:solidFill>
                  <a:srgbClr val="C9A26B"/>
                </a:solidFill>
                <a:latin typeface="Barlow Condensed"/>
              </a:rPr>
              <a:t>SOLICITE SEU ORÇAMENTO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3816000"/>
            <a:ext cx="6408000" cy="11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70"/>
              </a:lnSpc>
            </a:pPr>
            <a:r>
              <a:rPr sz="4600" b="1">
                <a:solidFill>
                  <a:srgbClr val="F4F2EE"/>
                </a:solidFill>
                <a:latin typeface="Barlow Condensed"/>
              </a:rPr>
              <a:t>VAMOS TIRAR SEU</a:t>
            </a:r>
          </a:p>
          <a:p>
            <a:pPr algn="l">
              <a:lnSpc>
                <a:spcPts val="4370"/>
              </a:lnSpc>
            </a:pPr>
            <a:r>
              <a:rPr sz="4600" b="1">
                <a:solidFill>
                  <a:srgbClr val="F4F2EE"/>
                </a:solidFill>
                <a:latin typeface="Barlow Condensed"/>
              </a:rPr>
              <a:t>PROJETO DO </a:t>
            </a:r>
            <a:r>
              <a:rPr sz="4600" b="1">
                <a:solidFill>
                  <a:srgbClr val="C9A26B"/>
                </a:solidFill>
                <a:latin typeface="Barlow Condensed"/>
              </a:rPr>
              <a:t>PAPEL?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5040000"/>
            <a:ext cx="6408000" cy="57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77"/>
              </a:lnSpc>
            </a:pPr>
            <a:r>
              <a:rPr sz="1650" b="0">
                <a:solidFill>
                  <a:srgbClr val="D9D6D0"/>
                </a:solidFill>
                <a:latin typeface="Barlow"/>
              </a:rPr>
              <a:t>Tudo pode começar com uma conversa. Conte para o Felipe o que você precisa e solicite seu orçamento.</a:t>
            </a:r>
          </a:p>
        </p:txBody>
      </p:sp>
      <p:sp>
        <p:nvSpPr>
          <p:cNvPr id="9" name="Oval 8"/>
          <p:cNvSpPr/>
          <p:nvPr/>
        </p:nvSpPr>
        <p:spPr>
          <a:xfrm>
            <a:off x="576000" y="5868000"/>
            <a:ext cx="360000" cy="360000"/>
          </a:xfrm>
          <a:prstGeom prst="ellipse">
            <a:avLst/>
          </a:prstGeom>
          <a:noFill/>
          <a:ln w="16200">
            <a:solidFill>
              <a:srgbClr val="C9A2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58680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1">
                <a:solidFill>
                  <a:srgbClr val="C9A26B"/>
                </a:solidFill>
                <a:latin typeface="Barlow Condense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00" y="6336000"/>
            <a:ext cx="196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550" b="1" spc="46">
                <a:solidFill>
                  <a:srgbClr val="F4F2EE"/>
                </a:solidFill>
                <a:latin typeface="Barlow Condensed"/>
              </a:rPr>
              <a:t>CHAME NO WHATSAPP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588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Fale direto com o Felipe.</a:t>
            </a:r>
          </a:p>
        </p:txBody>
      </p:sp>
      <p:sp>
        <p:nvSpPr>
          <p:cNvPr id="13" name="Oval 12"/>
          <p:cNvSpPr/>
          <p:nvPr/>
        </p:nvSpPr>
        <p:spPr>
          <a:xfrm>
            <a:off x="2795999" y="5868000"/>
            <a:ext cx="360000" cy="360000"/>
          </a:xfrm>
          <a:prstGeom prst="ellipse">
            <a:avLst/>
          </a:prstGeom>
          <a:noFill/>
          <a:ln w="16200">
            <a:solidFill>
              <a:srgbClr val="C9A2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5999" y="58680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1">
                <a:solidFill>
                  <a:srgbClr val="C9A26B"/>
                </a:solidFill>
                <a:latin typeface="Barlow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5999" y="6336000"/>
            <a:ext cx="196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550" b="1" spc="46">
                <a:solidFill>
                  <a:srgbClr val="F4F2EE"/>
                </a:solidFill>
                <a:latin typeface="Barlow Condensed"/>
              </a:rPr>
              <a:t>CONTE SUA IDEIA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5999" y="6588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Envie fotos, medidas ou o projeto, se tiver.</a:t>
            </a:r>
          </a:p>
        </p:txBody>
      </p:sp>
      <p:sp>
        <p:nvSpPr>
          <p:cNvPr id="17" name="Oval 16"/>
          <p:cNvSpPr/>
          <p:nvPr/>
        </p:nvSpPr>
        <p:spPr>
          <a:xfrm>
            <a:off x="5015999" y="5868000"/>
            <a:ext cx="360000" cy="360000"/>
          </a:xfrm>
          <a:prstGeom prst="ellipse">
            <a:avLst/>
          </a:prstGeom>
          <a:noFill/>
          <a:ln w="16200">
            <a:solidFill>
              <a:srgbClr val="C9A2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5999" y="5868000"/>
            <a:ext cx="36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00"/>
              </a:lnSpc>
            </a:pPr>
            <a:r>
              <a:rPr sz="1600" b="1">
                <a:solidFill>
                  <a:srgbClr val="C9A26B"/>
                </a:solidFill>
                <a:latin typeface="Barlow Condense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5999" y="6336000"/>
            <a:ext cx="1968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50"/>
              </a:lnSpc>
            </a:pPr>
            <a:r>
              <a:rPr sz="1550" b="1" spc="46">
                <a:solidFill>
                  <a:srgbClr val="F4F2EE"/>
                </a:solidFill>
                <a:latin typeface="Barlow Condensed"/>
              </a:rPr>
              <a:t>RECEBA SEU ORÇAMENTO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5999" y="6588000"/>
            <a:ext cx="1968000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50" b="0">
                <a:solidFill>
                  <a:srgbClr val="AEB2B8"/>
                </a:solidFill>
                <a:latin typeface="Barlow"/>
              </a:rPr>
              <a:t>Com orientação para a melhor solução.</a:t>
            </a:r>
          </a:p>
        </p:txBody>
      </p:sp>
      <p:sp>
        <p:nvSpPr>
          <p:cNvPr id="21" name="Rectangle 20">
            <a:hlinkClick r:id="rId4"/>
          </p:cNvPr>
          <p:cNvSpPr/>
          <p:nvPr/>
        </p:nvSpPr>
        <p:spPr>
          <a:xfrm>
            <a:off x="576000" y="7272000"/>
            <a:ext cx="6408000" cy="2232000"/>
          </a:xfrm>
          <a:prstGeom prst="rect">
            <a:avLst/>
          </a:prstGeom>
          <a:solidFill>
            <a:srgbClr val="181A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6000" y="7272000"/>
            <a:ext cx="43200" cy="2232000"/>
          </a:xfrm>
          <a:prstGeom prst="rect">
            <a:avLst/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000" y="7524000"/>
            <a:ext cx="3960000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2"/>
              </a:lnSpc>
            </a:pPr>
            <a:r>
              <a:rPr sz="1350" b="1" spc="189">
                <a:solidFill>
                  <a:srgbClr val="C9A26B"/>
                </a:solidFill>
                <a:latin typeface="Barlow Condensed"/>
              </a:rPr>
              <a:t>FELIPE  |  JP ALUMÍNIOS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864000" y="7776000"/>
            <a:ext cx="4176000" cy="7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600"/>
              </a:lnSpc>
            </a:pPr>
            <a:r>
              <a:rPr sz="4600" b="1">
                <a:solidFill>
                  <a:srgbClr val="F4F2EE"/>
                </a:solidFill>
                <a:latin typeface="Barlow Condensed"/>
              </a:rPr>
              <a:t>(16) 99101-9797</a:t>
            </a:r>
          </a:p>
        </p:txBody>
      </p:sp>
      <p:sp>
        <p:nvSpPr>
          <p:cNvPr id="25" name="Rounded Rectangle 24">
            <a:hlinkClick r:id="rId4"/>
          </p:cNvPr>
          <p:cNvSpPr/>
          <p:nvPr/>
        </p:nvSpPr>
        <p:spPr>
          <a:xfrm>
            <a:off x="864000" y="8676000"/>
            <a:ext cx="2952000" cy="504000"/>
          </a:xfrm>
          <a:prstGeom prst="roundRect">
            <a:avLst>
              <a:gd name="adj" fmla="val 50000"/>
            </a:avLst>
          </a:prstGeom>
          <a:solidFill>
            <a:srgbClr val="C9A2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>
            <a:hlinkClick r:id="rId4"/>
          </p:cNvPr>
          <p:cNvSpPr txBox="1"/>
          <p:nvPr/>
        </p:nvSpPr>
        <p:spPr>
          <a:xfrm>
            <a:off x="864000" y="8676000"/>
            <a:ext cx="2952000" cy="50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025"/>
              </a:lnSpc>
            </a:pPr>
            <a:r>
              <a:rPr sz="1500" b="1" spc="120">
                <a:solidFill>
                  <a:srgbClr val="0E0F11"/>
                </a:solidFill>
                <a:latin typeface="Barlow Condensed"/>
              </a:rPr>
              <a:t>CHAMAR NO WHATSAPP</a:t>
            </a:r>
          </a:p>
        </p:txBody>
      </p:sp>
      <p:sp>
        <p:nvSpPr>
          <p:cNvPr id="27" name="Rounded Rectangle 26">
            <a:hlinkClick r:id="rId4"/>
          </p:cNvPr>
          <p:cNvSpPr/>
          <p:nvPr/>
        </p:nvSpPr>
        <p:spPr>
          <a:xfrm>
            <a:off x="5112000" y="7452000"/>
            <a:ext cx="1656000" cy="1656000"/>
          </a:xfrm>
          <a:prstGeom prst="roundRect">
            <a:avLst>
              <a:gd name="adj" fmla="val 260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qr_whatsapp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000" y="7578000"/>
            <a:ext cx="1404000" cy="1404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12000" y="9162000"/>
            <a:ext cx="1656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52"/>
              </a:lnSpc>
            </a:pPr>
            <a:r>
              <a:rPr sz="1150" b="1" spc="161">
                <a:solidFill>
                  <a:srgbClr val="AEB2B8"/>
                </a:solidFill>
                <a:latin typeface="Barlow Condensed"/>
              </a:rPr>
              <a:t>APONTE A CÂMERA</a:t>
            </a:r>
          </a:p>
        </p:txBody>
      </p:sp>
      <p:pic>
        <p:nvPicPr>
          <p:cNvPr id="30" name="Picture 29" descr="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059" y="9792000"/>
            <a:ext cx="1963881" cy="324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6000" y="10224000"/>
            <a:ext cx="64080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20"/>
              </a:lnSpc>
            </a:pPr>
            <a:r>
              <a:rPr sz="1200" b="1" spc="192">
                <a:solidFill>
                  <a:srgbClr val="AEB2B8"/>
                </a:solidFill>
                <a:latin typeface="Barlow Condensed"/>
              </a:rPr>
              <a:t>DESDE 2015  ·  RIBEIRÃO PRETO/SP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 Alumínios | Apresentação institucional</dc:title>
  <dc:subject/>
  <dc:creator>JP Alumínios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