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wa.me/551699101979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hyperlink" Target="https://wa.me/5516991019797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hyperlink" Target="https://wa.me/5516991019797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Relationship Id="rId14" Type="http://schemas.openxmlformats.org/officeDocument/2006/relationships/image" Target="../media/image30.jpg"/><Relationship Id="rId15" Type="http://schemas.openxmlformats.org/officeDocument/2006/relationships/image" Target="../media/image31.jpg"/><Relationship Id="rId16" Type="http://schemas.openxmlformats.org/officeDocument/2006/relationships/image" Target="../media/image32.jpg"/><Relationship Id="rId17" Type="http://schemas.openxmlformats.org/officeDocument/2006/relationships/image" Target="../media/image33.jpg"/><Relationship Id="rId18" Type="http://schemas.openxmlformats.org/officeDocument/2006/relationships/image" Target="../media/image34.jp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hyperlink" Target="https://wa.me/551699101979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1.jpg"/><Relationship Id="rId9" Type="http://schemas.openxmlformats.org/officeDocument/2006/relationships/image" Target="../media/image42.jpg"/><Relationship Id="rId10" Type="http://schemas.openxmlformats.org/officeDocument/2006/relationships/image" Target="../media/image43.jpg"/><Relationship Id="rId11" Type="http://schemas.openxmlformats.org/officeDocument/2006/relationships/image" Target="../media/image44.jpg"/><Relationship Id="rId12" Type="http://schemas.openxmlformats.org/officeDocument/2006/relationships/image" Target="../media/image45.jpg"/><Relationship Id="rId13" Type="http://schemas.openxmlformats.org/officeDocument/2006/relationships/image" Target="../media/image46.jpg"/><Relationship Id="rId14" Type="http://schemas.openxmlformats.org/officeDocument/2006/relationships/image" Target="../media/image47.jpg"/><Relationship Id="rId15" Type="http://schemas.openxmlformats.org/officeDocument/2006/relationships/image" Target="../media/image48.jpg"/><Relationship Id="rId16" Type="http://schemas.openxmlformats.org/officeDocument/2006/relationships/image" Target="../media/image49.jpg"/><Relationship Id="rId17" Type="http://schemas.openxmlformats.org/officeDocument/2006/relationships/image" Target="../media/image50.jpg"/><Relationship Id="rId18" Type="http://schemas.openxmlformats.org/officeDocument/2006/relationships/image" Target="../media/image51.jpg"/><Relationship Id="rId19" Type="http://schemas.openxmlformats.org/officeDocument/2006/relationships/image" Target="../media/image52.jpg"/><Relationship Id="rId20" Type="http://schemas.openxmlformats.org/officeDocument/2006/relationships/image" Target="../media/image53.jpg"/><Relationship Id="rId21" Type="http://schemas.openxmlformats.org/officeDocument/2006/relationships/image" Target="../media/image12.png"/><Relationship Id="rId22" Type="http://schemas.openxmlformats.org/officeDocument/2006/relationships/image" Target="../media/image13.png"/><Relationship Id="rId23" Type="http://schemas.openxmlformats.org/officeDocument/2006/relationships/hyperlink" Target="https://wa.me/551699101979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61.jpg"/><Relationship Id="rId10" Type="http://schemas.openxmlformats.org/officeDocument/2006/relationships/image" Target="../media/image62.jpg"/><Relationship Id="rId11" Type="http://schemas.openxmlformats.org/officeDocument/2006/relationships/image" Target="../media/image63.jpg"/><Relationship Id="rId12" Type="http://schemas.openxmlformats.org/officeDocument/2006/relationships/image" Target="../media/image64.jp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hyperlink" Target="https://wa.me/551699101979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hyperlink" Target="https://wa.me/5516991019797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hyperlink" Target="https://wa.me/551699101979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hyperlink" Target="https://wa.me/5516991019797" TargetMode="External"/><Relationship Id="rId5" Type="http://schemas.openxmlformats.org/officeDocument/2006/relationships/image" Target="../media/image68.png"/><Relationship Id="rId6" Type="http://schemas.openxmlformats.org/officeDocument/2006/relationships/image" Target="../media/image3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D15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m_bartender_210x204_c911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7344000"/>
          </a:xfrm>
          <a:prstGeom prst="rect">
            <a:avLst/>
          </a:prstGeom>
        </p:spPr>
      </p:pic>
      <p:pic>
        <p:nvPicPr>
          <p:cNvPr id="4" name="Picture 3" descr="grad_301494e3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0000" cy="2232000"/>
          </a:xfrm>
          <a:prstGeom prst="rect">
            <a:avLst/>
          </a:prstGeom>
        </p:spPr>
      </p:pic>
      <p:pic>
        <p:nvPicPr>
          <p:cNvPr id="5" name="Picture 4" descr="grad_0a5e24d7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12000"/>
            <a:ext cx="7560000" cy="4032000"/>
          </a:xfrm>
          <a:prstGeom prst="rect">
            <a:avLst/>
          </a:prstGeom>
        </p:spPr>
      </p:pic>
      <p:pic>
        <p:nvPicPr>
          <p:cNvPr id="6" name="Picture 5" descr="checkmate_logo_claro_7c42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" y="684000"/>
            <a:ext cx="1717527" cy="295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473527" y="558000"/>
            <a:ext cx="10800" cy="540000"/>
          </a:xfrm>
          <a:prstGeom prst="rect">
            <a:avLst/>
          </a:prstGeom>
          <a:solidFill>
            <a:srgbClr val="C2B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liqsy_logo_claro_a23a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3527" y="522000"/>
            <a:ext cx="1355294" cy="576000"/>
          </a:xfrm>
          <a:prstGeom prst="rect">
            <a:avLst/>
          </a:prstGeom>
        </p:spPr>
      </p:pic>
      <p:pic>
        <p:nvPicPr>
          <p:cNvPr id="9" name="Picture 8" descr="baldo_selo_claro_bfe71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000" y="468000"/>
            <a:ext cx="685090" cy="68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6000" y="5976000"/>
            <a:ext cx="432000" cy="2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6069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C9A45C"/>
                </a:solidFill>
                <a:latin typeface="Barlow Condensed"/>
              </a:rPr>
              <a:t>PORTFÓLIO DE BEBIDAS PARA O SEU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336000"/>
            <a:ext cx="6408000" cy="12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04"/>
              </a:lnSpc>
            </a:pPr>
            <a:r>
              <a:rPr sz="3800" b="0" i="1">
                <a:solidFill>
                  <a:srgbClr val="F7EFE6"/>
                </a:solidFill>
                <a:latin typeface="Playfair Display"/>
              </a:rPr>
              <a:t>Mais sabor no cardápio,</a:t>
            </a:r>
          </a:p>
          <a:p>
            <a:pPr algn="l">
              <a:lnSpc>
                <a:spcPts val="4104"/>
              </a:lnSpc>
            </a:pPr>
            <a:r>
              <a:rPr sz="3800" b="0" i="1">
                <a:solidFill>
                  <a:srgbClr val="C9A45C"/>
                </a:solidFill>
                <a:latin typeface="Playfair Display"/>
              </a:rPr>
              <a:t>menos trabalho no balcão.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7668000"/>
            <a:ext cx="6120000" cy="64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4"/>
              </a:lnSpc>
            </a:pPr>
            <a:r>
              <a:rPr sz="1650" b="0" i="0">
                <a:solidFill>
                  <a:srgbClr val="E2D8CE"/>
                </a:solidFill>
                <a:latin typeface="Barlow"/>
              </a:rPr>
              <a:t>Chá mate Checkmate e xaropes premium Liqsy para bares, cafeterias, restaurantes e lanchonetes.</a:t>
            </a:r>
          </a:p>
        </p:txBody>
      </p:sp>
      <p:sp>
        <p:nvSpPr>
          <p:cNvPr id="14" name="Rounded Rectangle 13">
            <a:hlinkClick r:id="rId8"/>
          </p:cNvPr>
          <p:cNvSpPr/>
          <p:nvPr/>
        </p:nvSpPr>
        <p:spPr>
          <a:xfrm>
            <a:off x="576000" y="9108000"/>
            <a:ext cx="6408000" cy="900000"/>
          </a:xfrm>
          <a:prstGeom prst="roundRect">
            <a:avLst>
              <a:gd name="adj" fmla="val 6400"/>
            </a:avLst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r:id="rId8"/>
          </p:cNvPr>
          <p:cNvSpPr txBox="1"/>
          <p:nvPr/>
        </p:nvSpPr>
        <p:spPr>
          <a:xfrm>
            <a:off x="828000" y="9108000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9"/>
              </a:lnSpc>
            </a:pPr>
            <a:r>
              <a:rPr sz="1600" b="1" i="0" spc="80">
                <a:solidFill>
                  <a:srgbClr val="1D1512"/>
                </a:solidFill>
                <a:latin typeface="Barlow Condensed"/>
              </a:rPr>
              <a:t>PEÇA SUA TABELA DE PREÇOS</a:t>
            </a:r>
          </a:p>
          <a:p>
            <a:pPr algn="l">
              <a:lnSpc>
                <a:spcPts val="1839"/>
              </a:lnSpc>
            </a:pPr>
            <a:r>
              <a:rPr sz="1600" b="1" i="0" spc="80">
                <a:solidFill>
                  <a:srgbClr val="4A3A22"/>
                </a:solidFill>
                <a:latin typeface="Barlow Condensed"/>
              </a:rPr>
              <a:t>Felipe, representante comercial</a:t>
            </a:r>
          </a:p>
        </p:txBody>
      </p:sp>
      <p:sp>
        <p:nvSpPr>
          <p:cNvPr id="16" name="TextBox 15">
            <a:hlinkClick r:id="rId8"/>
          </p:cNvPr>
          <p:cNvSpPr txBox="1"/>
          <p:nvPr/>
        </p:nvSpPr>
        <p:spPr>
          <a:xfrm>
            <a:off x="3996000" y="9108000"/>
            <a:ext cx="2736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3000"/>
              </a:lnSpc>
            </a:pPr>
            <a:r>
              <a:rPr sz="3000" b="1" i="0">
                <a:solidFill>
                  <a:srgbClr val="1D1512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432000" cy="21600"/>
          </a:xfrm>
          <a:prstGeom prst="rect">
            <a:avLst/>
          </a:prstGeom>
          <a:solidFill>
            <a:srgbClr val="8C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69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8C6B2F"/>
                </a:solidFill>
                <a:latin typeface="Barlow Condensed"/>
              </a:rPr>
              <a:t>QUEM ESTÁ POR 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00000"/>
            <a:ext cx="5040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2B1B14"/>
                </a:solidFill>
                <a:latin typeface="Playfair Display"/>
              </a:rPr>
              <a:t>A tradição da Baldo</a:t>
            </a:r>
          </a:p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8C6B2F"/>
                </a:solidFill>
                <a:latin typeface="Playfair Display"/>
              </a:rPr>
              <a:t>no seu cardápio.</a:t>
            </a:r>
          </a:p>
        </p:txBody>
      </p:sp>
      <p:pic>
        <p:nvPicPr>
          <p:cNvPr id="6" name="Picture 5" descr="baldo_selo_escuro_41ba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000" y="540000"/>
            <a:ext cx="973550" cy="9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2160000"/>
            <a:ext cx="640800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6B5B51"/>
                </a:solidFill>
                <a:latin typeface="Barlow"/>
              </a:rPr>
              <a:t>Checkmate e Liqsy são marcas da Baldo, apaixonada por mate desde 1920. É a experiência de quem domina todo o processo da erva-mate, do cultivo ao produto final, em soluções práticas para quem serve bebidas.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3312000"/>
            <a:ext cx="3096000" cy="5976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m_cliente_drink_86x84_e2288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3312000"/>
            <a:ext cx="3096000" cy="3024000"/>
          </a:xfrm>
          <a:prstGeom prst="rect">
            <a:avLst/>
          </a:prstGeom>
        </p:spPr>
      </p:pic>
      <p:pic>
        <p:nvPicPr>
          <p:cNvPr id="10" name="Picture 9" descr="checkmate_logo_escuro_846b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00" y="6660000"/>
            <a:ext cx="1340509" cy="23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8000" y="7200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2"/>
              </a:lnSpc>
            </a:pPr>
            <a:r>
              <a:rPr sz="1400" b="0" i="1">
                <a:solidFill>
                  <a:srgbClr val="2B1B14"/>
                </a:solidFill>
                <a:latin typeface="Playfair Display"/>
              </a:rPr>
              <a:t>Onde tem paixão, tem chá mate.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7560000"/>
            <a:ext cx="2592000" cy="97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3"/>
              </a:lnSpc>
            </a:pPr>
            <a:r>
              <a:rPr sz="1300" b="0" i="0">
                <a:solidFill>
                  <a:srgbClr val="6B5B51"/>
                </a:solidFill>
                <a:latin typeface="Barlow"/>
              </a:rPr>
              <a:t>Chá mate para servir, para infusão e para revender, com a experiência de quem é especialista em erva-mate.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000" y="8784000"/>
            <a:ext cx="2592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00" y="8856000"/>
            <a:ext cx="2592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42">
                <a:solidFill>
                  <a:srgbClr val="5E6B32"/>
                </a:solidFill>
                <a:latin typeface="Barlow Condensed"/>
              </a:rPr>
              <a:t>SABORIZADO · CONCENTRADO · SACHÊS · GRANEL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8000" y="3312000"/>
            <a:ext cx="3096000" cy="5976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q_hero_86x84_1d56a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000" y="3312000"/>
            <a:ext cx="3096000" cy="3024000"/>
          </a:xfrm>
          <a:prstGeom prst="rect">
            <a:avLst/>
          </a:prstGeom>
        </p:spPr>
      </p:pic>
      <p:pic>
        <p:nvPicPr>
          <p:cNvPr id="17" name="Picture 16" descr="liqsy_logo_escuro_2378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000" y="6660000"/>
            <a:ext cx="1101176" cy="46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40000" y="7200000"/>
            <a:ext cx="2592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12"/>
              </a:lnSpc>
            </a:pPr>
            <a:r>
              <a:rPr sz="1400" b="0" i="1">
                <a:solidFill>
                  <a:srgbClr val="2B1B14"/>
                </a:solidFill>
                <a:latin typeface="Playfair Display"/>
              </a:rPr>
              <a:t>A dose perfeita para surpreender.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0000" y="7560000"/>
            <a:ext cx="2592000" cy="97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3"/>
              </a:lnSpc>
            </a:pPr>
            <a:r>
              <a:rPr sz="1300" b="0" i="0">
                <a:solidFill>
                  <a:srgbClr val="6B5B51"/>
                </a:solidFill>
                <a:latin typeface="Barlow"/>
              </a:rPr>
              <a:t>Xaropes premium em 9 sabores para criar bebidas, das cítricas às adocicadas, com textura aveludada.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0000" y="8784000"/>
            <a:ext cx="2592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0000" y="8856000"/>
            <a:ext cx="2592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GARRAFA 750 ML · BAG-IN-BOX 3 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9504000"/>
            <a:ext cx="640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87"/>
              </a:lnSpc>
            </a:pPr>
            <a:r>
              <a:rPr sz="1250" b="0" i="0">
                <a:solidFill>
                  <a:srgbClr val="6B5B51"/>
                </a:solidFill>
                <a:latin typeface="Barlow"/>
              </a:rPr>
              <a:t>Atendimento direto com Felipe, representante comercial das marcas.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mate_logo_escuro_928f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liqsy_logo_escuro_f010f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27" name="TextBox 26">
            <a:hlinkClick r:id="rId9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2B1B14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8C6B2F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D15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m_risada_210x116_1b54d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4176000"/>
          </a:xfrm>
          <a:prstGeom prst="rect">
            <a:avLst/>
          </a:prstGeom>
        </p:spPr>
      </p:pic>
      <p:pic>
        <p:nvPicPr>
          <p:cNvPr id="4" name="Picture 3" descr="grad_05a6800f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8000"/>
            <a:ext cx="7560000" cy="208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3888000"/>
            <a:ext cx="432000" cy="2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3981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C9A45C"/>
                </a:solidFill>
                <a:latin typeface="Barlow Condensed"/>
              </a:rPr>
              <a:t>POR QUE CHÁ MATE?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421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F7EFE6"/>
                </a:solidFill>
                <a:latin typeface="Playfair Display"/>
              </a:rPr>
              <a:t>A bebida do momento</a:t>
            </a:r>
          </a:p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C9A45C"/>
                </a:solidFill>
                <a:latin typeface="Playfair Display"/>
              </a:rPr>
              <a:t>no seu cardápio.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5400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70"/>
              </a:lnSpc>
            </a:pPr>
            <a:r>
              <a:rPr sz="1500" b="0" i="0">
                <a:solidFill>
                  <a:srgbClr val="C2B5A9"/>
                </a:solidFill>
                <a:latin typeface="Barlow"/>
              </a:rPr>
              <a:t>Uma tendência global que une sabor, naturalidade e versatilidade, com preparo simples e sabor consistente.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6120000"/>
            <a:ext cx="1968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000"/>
              </a:lnSpc>
            </a:pPr>
            <a:r>
              <a:rPr sz="3000" b="1" i="0" spc="120">
                <a:solidFill>
                  <a:srgbClr val="C9A45C"/>
                </a:solidFill>
                <a:latin typeface="Barlow Condensed"/>
              </a:rPr>
              <a:t>148%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768000"/>
            <a:ext cx="1968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de crescimento da produção brasileira de chás prontos para beber em 10 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5999" y="6120000"/>
            <a:ext cx="1968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5999" y="6246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</a:pPr>
            <a:r>
              <a:rPr sz="2400" b="1" i="0" spc="96">
                <a:solidFill>
                  <a:srgbClr val="C9A45C"/>
                </a:solidFill>
                <a:latin typeface="Barlow Condensed"/>
              </a:rPr>
              <a:t>4,1% a 4,7%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5999" y="6768000"/>
            <a:ext cx="1968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de crescimento anual previsto para o mercado global de bebidas não alcoólicas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5999" y="6120000"/>
            <a:ext cx="1968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5999" y="6246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00"/>
              </a:lnSpc>
            </a:pPr>
            <a:r>
              <a:rPr sz="2400" b="1" i="0" spc="96">
                <a:solidFill>
                  <a:srgbClr val="C9A45C"/>
                </a:solidFill>
                <a:latin typeface="Barlow Condensed"/>
              </a:rPr>
              <a:t>Mocktails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5999" y="6768000"/>
            <a:ext cx="1968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coquetéis sem álcool em alta, principalmente entre o público jovem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7776000"/>
            <a:ext cx="3096000" cy="1800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7956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i="0" spc="156">
                <a:solidFill>
                  <a:srgbClr val="C9A45C"/>
                </a:solidFill>
                <a:latin typeface="Barlow Condensed"/>
              </a:rPr>
              <a:t>PARA O SEU NEGÓCIO</a:t>
            </a:r>
          </a:p>
        </p:txBody>
      </p:sp>
      <p:sp>
        <p:nvSpPr>
          <p:cNvPr id="20" name="Oval 19"/>
          <p:cNvSpPr/>
          <p:nvPr/>
        </p:nvSpPr>
        <p:spPr>
          <a:xfrm>
            <a:off x="792000" y="8395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0" y="8316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Rentabilidade e versatilidade</a:t>
            </a:r>
          </a:p>
        </p:txBody>
      </p:sp>
      <p:sp>
        <p:nvSpPr>
          <p:cNvPr id="22" name="Oval 21"/>
          <p:cNvSpPr/>
          <p:nvPr/>
        </p:nvSpPr>
        <p:spPr>
          <a:xfrm>
            <a:off x="792000" y="8773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0" y="8694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Preparo simples e padronizado</a:t>
            </a:r>
          </a:p>
        </p:txBody>
      </p:sp>
      <p:sp>
        <p:nvSpPr>
          <p:cNvPr id="24" name="Oval 23"/>
          <p:cNvSpPr/>
          <p:nvPr/>
        </p:nvSpPr>
        <p:spPr>
          <a:xfrm>
            <a:off x="792000" y="9151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0" y="9072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Diversas combinações de sabor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8000" y="7776000"/>
            <a:ext cx="3096000" cy="1800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4000" y="7956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i="0" spc="156">
                <a:solidFill>
                  <a:srgbClr val="C9A45C"/>
                </a:solidFill>
                <a:latin typeface="Barlow Condensed"/>
              </a:rPr>
              <a:t>PARA O SEU CLIENTE</a:t>
            </a:r>
          </a:p>
        </p:txBody>
      </p:sp>
      <p:sp>
        <p:nvSpPr>
          <p:cNvPr id="28" name="Oval 27"/>
          <p:cNvSpPr/>
          <p:nvPr/>
        </p:nvSpPr>
        <p:spPr>
          <a:xfrm>
            <a:off x="4104000" y="8395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4000" y="8316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Refrescante e leve</a:t>
            </a:r>
          </a:p>
        </p:txBody>
      </p:sp>
      <p:sp>
        <p:nvSpPr>
          <p:cNvPr id="30" name="Oval 29"/>
          <p:cNvSpPr/>
          <p:nvPr/>
        </p:nvSpPr>
        <p:spPr>
          <a:xfrm>
            <a:off x="4104000" y="8773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4000" y="8694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Energia e disposição</a:t>
            </a:r>
          </a:p>
        </p:txBody>
      </p:sp>
      <p:sp>
        <p:nvSpPr>
          <p:cNvPr id="32" name="Oval 31"/>
          <p:cNvSpPr/>
          <p:nvPr/>
        </p:nvSpPr>
        <p:spPr>
          <a:xfrm>
            <a:off x="4104000" y="9151200"/>
            <a:ext cx="79200" cy="79200"/>
          </a:xfrm>
          <a:prstGeom prst="ellipse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4000" y="9072000"/>
            <a:ext cx="2484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F7EFE6"/>
                </a:solidFill>
                <a:latin typeface="Barlow"/>
              </a:rPr>
              <a:t>Ideal para qualquer hora do 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00" y="96660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Dados de mercado conforme o catálogo Checkmate 2026.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mate_logo_claro_7994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C2B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liqsy_logo_claro_7159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39" name="TextBox 38">
            <a:hlinkClick r:id="rId6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F7EFE6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C9A45C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B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m_3l_morango_84x92_87a9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0"/>
            <a:ext cx="3024000" cy="3312000"/>
          </a:xfrm>
          <a:prstGeom prst="rect">
            <a:avLst/>
          </a:prstGeom>
        </p:spPr>
      </p:pic>
      <p:pic>
        <p:nvPicPr>
          <p:cNvPr id="4" name="Picture 3" descr="checkmate_logo_escuro_dfb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612000"/>
            <a:ext cx="1466181" cy="25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1116000"/>
            <a:ext cx="432000" cy="21600"/>
          </a:xfrm>
          <a:prstGeom prst="rect">
            <a:avLst/>
          </a:prstGeom>
          <a:solidFill>
            <a:srgbClr val="5E6B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1209600"/>
            <a:ext cx="3744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5E6B32"/>
                </a:solidFill>
                <a:latin typeface="Barlow Condensed"/>
              </a:rPr>
              <a:t>PARA BARES, CAFETERIAS E RESTAURANTES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40000"/>
            <a:ext cx="3744000" cy="10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2B1B14"/>
                </a:solidFill>
                <a:latin typeface="Playfair Display"/>
              </a:rPr>
              <a:t>Rende muito,</a:t>
            </a:r>
          </a:p>
          <a:p>
            <a:pPr algn="l">
              <a:lnSpc>
                <a:spcPts val="3672"/>
              </a:lnSpc>
            </a:pPr>
            <a:r>
              <a:rPr sz="3400" b="0" i="1">
                <a:solidFill>
                  <a:srgbClr val="5E6B32"/>
                </a:solidFill>
                <a:latin typeface="Playfair Display"/>
              </a:rPr>
              <a:t>prepara rápido.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2520000"/>
            <a:ext cx="3672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450" b="0" i="0">
                <a:solidFill>
                  <a:srgbClr val="6B5B51"/>
                </a:solidFill>
                <a:latin typeface="Barlow"/>
              </a:rPr>
              <a:t>Chá mate saborizado e concentrado para um preparo rápido e padronizado, sem complicações.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3528000"/>
            <a:ext cx="3096000" cy="3024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cm_750_1_a7cb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0" y="3839206"/>
            <a:ext cx="322971" cy="1092793"/>
          </a:xfrm>
          <a:prstGeom prst="rect">
            <a:avLst/>
          </a:prstGeom>
        </p:spPr>
      </p:pic>
      <p:pic>
        <p:nvPicPr>
          <p:cNvPr id="11" name="Picture 10" descr="cm_750_2_6cf47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171" y="3839206"/>
            <a:ext cx="322971" cy="1092793"/>
          </a:xfrm>
          <a:prstGeom prst="rect">
            <a:avLst/>
          </a:prstGeom>
        </p:spPr>
      </p:pic>
      <p:pic>
        <p:nvPicPr>
          <p:cNvPr id="12" name="Picture 11" descr="cm_750_3_6b3bc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6342" y="3839206"/>
            <a:ext cx="322971" cy="1092793"/>
          </a:xfrm>
          <a:prstGeom prst="rect">
            <a:avLst/>
          </a:prstGeom>
        </p:spPr>
      </p:pic>
      <p:pic>
        <p:nvPicPr>
          <p:cNvPr id="13" name="Picture 12" descr="cm_750_4_329cb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514" y="3839206"/>
            <a:ext cx="322971" cy="1092793"/>
          </a:xfrm>
          <a:prstGeom prst="rect">
            <a:avLst/>
          </a:prstGeom>
        </p:spPr>
      </p:pic>
      <p:pic>
        <p:nvPicPr>
          <p:cNvPr id="14" name="Picture 13" descr="cm_750_5_4319f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8685" y="3839206"/>
            <a:ext cx="322971" cy="1092793"/>
          </a:xfrm>
          <a:prstGeom prst="rect">
            <a:avLst/>
          </a:prstGeom>
        </p:spPr>
      </p:pic>
      <p:pic>
        <p:nvPicPr>
          <p:cNvPr id="15" name="Picture 14" descr="cm_750_6_674e7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4857" y="3839206"/>
            <a:ext cx="322971" cy="1092793"/>
          </a:xfrm>
          <a:prstGeom prst="rect">
            <a:avLst/>
          </a:prstGeom>
        </p:spPr>
      </p:pic>
      <p:pic>
        <p:nvPicPr>
          <p:cNvPr id="16" name="Picture 15" descr="cm_750_7_c18be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1028" y="3839206"/>
            <a:ext cx="322971" cy="109279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484000" y="5400000"/>
            <a:ext cx="972000" cy="234000"/>
          </a:xfrm>
          <a:prstGeom prst="roundRect">
            <a:avLst>
              <a:gd name="adj" fmla="val 50000"/>
            </a:avLst>
          </a:prstGeom>
          <a:solidFill>
            <a:srgbClr val="5E6B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4000" y="5400000"/>
            <a:ext cx="972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000" b="1" i="0" spc="100">
                <a:solidFill>
                  <a:srgbClr val="FBF0E8"/>
                </a:solidFill>
                <a:latin typeface="Barlow Condensed"/>
              </a:rPr>
              <a:t>LANÇAMENTO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5112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 i="0" spc="60">
                <a:solidFill>
                  <a:srgbClr val="2B1B14"/>
                </a:solidFill>
                <a:latin typeface="Barlow Condensed"/>
              </a:rPr>
              <a:t>CHÁ MATE SABORIZADO 750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382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900" b="1" i="0" spc="76">
                <a:solidFill>
                  <a:srgbClr val="5E6B32"/>
                </a:solidFill>
                <a:latin typeface="Barlow Condensed"/>
              </a:rPr>
              <a:t>RENDE ATÉ 4,5 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706000"/>
            <a:ext cx="266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6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Cranberry, pêssego, morango, maçã verde, mimosa, limão siciliano e limão. Pump dosador de 8 ml.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8000" y="3528000"/>
            <a:ext cx="3096000" cy="3024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cm_3l_1_d0056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40000" y="4156673"/>
            <a:ext cx="594000" cy="775326"/>
          </a:xfrm>
          <a:prstGeom prst="rect">
            <a:avLst/>
          </a:prstGeom>
        </p:spPr>
      </p:pic>
      <p:pic>
        <p:nvPicPr>
          <p:cNvPr id="24" name="Picture 23" descr="cm_3l_2_c506a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6000" y="4156673"/>
            <a:ext cx="594000" cy="775326"/>
          </a:xfrm>
          <a:prstGeom prst="rect">
            <a:avLst/>
          </a:prstGeom>
        </p:spPr>
      </p:pic>
      <p:pic>
        <p:nvPicPr>
          <p:cNvPr id="25" name="Picture 24" descr="cm_3l_3_c33bf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72000" y="4156673"/>
            <a:ext cx="594000" cy="775326"/>
          </a:xfrm>
          <a:prstGeom prst="rect">
            <a:avLst/>
          </a:prstGeom>
        </p:spPr>
      </p:pic>
      <p:pic>
        <p:nvPicPr>
          <p:cNvPr id="26" name="Picture 25" descr="cm_3l_4_959d0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38000" y="4156673"/>
            <a:ext cx="594000" cy="77532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104000" y="5112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 i="0" spc="60">
                <a:solidFill>
                  <a:srgbClr val="2B1B14"/>
                </a:solidFill>
                <a:latin typeface="Barlow Condensed"/>
              </a:rPr>
              <a:t>CHÁ MATE SABORIZADO 3 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4000" y="5382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900" b="1" i="0" spc="76">
                <a:solidFill>
                  <a:srgbClr val="5E6B32"/>
                </a:solidFill>
                <a:latin typeface="Barlow Condensed"/>
              </a:rPr>
              <a:t>RENDE ATÉ 18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4000" y="5706000"/>
            <a:ext cx="266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6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Os mesmos 7 sabores em embalagem de 3 litros, com mais rendimento.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" y="6768000"/>
            <a:ext cx="3096000" cy="3024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cm_3l_tostado_5ed10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7021" y="6984000"/>
            <a:ext cx="909957" cy="1188000"/>
          </a:xfrm>
          <a:prstGeom prst="rect">
            <a:avLst/>
          </a:prstGeom>
        </p:spPr>
      </p:pic>
      <p:pic>
        <p:nvPicPr>
          <p:cNvPr id="32" name="Picture 31" descr="cm_750_tostado_299fc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7125" y="6948000"/>
            <a:ext cx="361748" cy="1224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2000" y="8352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 i="0" spc="60">
                <a:solidFill>
                  <a:srgbClr val="2B1B14"/>
                </a:solidFill>
                <a:latin typeface="Barlow Condensed"/>
              </a:rPr>
              <a:t>CHÁ MATE CONCENTRADO 3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8622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900" b="1" i="0" spc="76">
                <a:solidFill>
                  <a:srgbClr val="5E6B32"/>
                </a:solidFill>
                <a:latin typeface="Barlow Condensed"/>
              </a:rPr>
              <a:t>RENDE ATÉ 33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000" y="8946000"/>
            <a:ext cx="266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6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Tostado, com sabor natural do mate e erva-mate pura folha. Também em 750 ml, que rende até 8,2 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8000" y="6768000"/>
            <a:ext cx="3096000" cy="3024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cm_infusor_e7c678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68169" y="6948000"/>
            <a:ext cx="1455661" cy="1224000"/>
          </a:xfrm>
          <a:prstGeom prst="rect">
            <a:avLst/>
          </a:prstGeom>
        </p:spPr>
      </p:pic>
      <p:pic>
        <p:nvPicPr>
          <p:cNvPr id="38" name="Picture 37" descr="cm_pouch_1500g_80b6f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0000" y="7135387"/>
            <a:ext cx="936000" cy="10366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104000" y="8352000"/>
            <a:ext cx="266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500" b="1" i="0" spc="60">
                <a:solidFill>
                  <a:srgbClr val="2B1B14"/>
                </a:solidFill>
                <a:latin typeface="Barlow Condensed"/>
              </a:rPr>
              <a:t>CHÁ MATE TOSTADO 1,5 KG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4000" y="8622000"/>
            <a:ext cx="2664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900" b="1" i="0" spc="76">
                <a:solidFill>
                  <a:srgbClr val="5E6B32"/>
                </a:solidFill>
                <a:latin typeface="Barlow Condensed"/>
              </a:rPr>
              <a:t>30 SACHÊS  ·  ATÉ 3 L CADA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4000" y="8946000"/>
            <a:ext cx="266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6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Sachês de 50 g para infusor elétrico. Sirva puro ou combinado com xaropes.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checkmate_logo_escuro_928fb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liqsy_logo_escuro_f010f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46" name="TextBox 45">
            <a:hlinkClick r:id="rId21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2B1B14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8C6B2F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B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m_cha_quente_210x104_711f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744000"/>
          </a:xfrm>
          <a:prstGeom prst="rect">
            <a:avLst/>
          </a:prstGeom>
        </p:spPr>
      </p:pic>
      <p:pic>
        <p:nvPicPr>
          <p:cNvPr id="4" name="Picture 3" descr="grad_6de54c1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0000" cy="1440000"/>
          </a:xfrm>
          <a:prstGeom prst="rect">
            <a:avLst/>
          </a:prstGeom>
        </p:spPr>
      </p:pic>
      <p:pic>
        <p:nvPicPr>
          <p:cNvPr id="5" name="Picture 4" descr="grad_518b460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00000"/>
            <a:ext cx="7560000" cy="1944000"/>
          </a:xfrm>
          <a:prstGeom prst="rect">
            <a:avLst/>
          </a:prstGeom>
        </p:spPr>
      </p:pic>
      <p:pic>
        <p:nvPicPr>
          <p:cNvPr id="6" name="Picture 5" descr="checkmate_logo_claro_9a1d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" y="540000"/>
            <a:ext cx="1466181" cy="25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00" y="2736000"/>
            <a:ext cx="432000" cy="2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2829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C9A45C"/>
                </a:solidFill>
                <a:latin typeface="Barlow Condensed"/>
              </a:rPr>
              <a:t>INFUSÃO E VAREJO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3024000"/>
            <a:ext cx="6408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6"/>
              </a:lnSpc>
            </a:pPr>
            <a:r>
              <a:rPr sz="3200" b="0" i="1">
                <a:solidFill>
                  <a:srgbClr val="F7EFE6"/>
                </a:solidFill>
                <a:latin typeface="Playfair Display"/>
              </a:rPr>
              <a:t>Do sachê à </a:t>
            </a:r>
            <a:r>
              <a:rPr sz="3200" b="0" i="1">
                <a:solidFill>
                  <a:srgbClr val="C9A45C"/>
                </a:solidFill>
                <a:latin typeface="Playfair Display"/>
              </a:rPr>
              <a:t>prateleira.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032000"/>
            <a:ext cx="6408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600" b="1" i="0" spc="64">
                <a:solidFill>
                  <a:srgbClr val="2B1B14"/>
                </a:solidFill>
                <a:latin typeface="Barlow Condensed"/>
              </a:rPr>
              <a:t>SACHÊS EM CAIXINHAS 25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428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6B5B51"/>
                </a:solidFill>
                <a:latin typeface="Barlow"/>
              </a:rPr>
              <a:t>10 sachês de 2,5 g  ·  </a:t>
            </a:r>
            <a:r>
              <a:rPr sz="1300" b="0" i="0">
                <a:solidFill>
                  <a:srgbClr val="5E6B32"/>
                </a:solidFill>
                <a:latin typeface="Barlow"/>
              </a:rPr>
              <a:t>12 sabores</a:t>
            </a:r>
            <a:r>
              <a:rPr sz="1300" b="0" i="0">
                <a:solidFill>
                  <a:srgbClr val="6B5B51"/>
                </a:solidFill>
                <a:latin typeface="Barlow"/>
              </a:rPr>
              <a:t>  ·  validade de 1 ano</a:t>
            </a:r>
          </a:p>
        </p:txBody>
      </p:sp>
      <p:pic>
        <p:nvPicPr>
          <p:cNvPr id="12" name="Picture 11" descr="cm_caixinha_01_3e66f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58" y="4644000"/>
            <a:ext cx="819082" cy="720000"/>
          </a:xfrm>
          <a:prstGeom prst="rect">
            <a:avLst/>
          </a:prstGeom>
        </p:spPr>
      </p:pic>
      <p:pic>
        <p:nvPicPr>
          <p:cNvPr id="13" name="Picture 12" descr="cm_caixinha_02_00a3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458" y="4644000"/>
            <a:ext cx="819082" cy="720000"/>
          </a:xfrm>
          <a:prstGeom prst="rect">
            <a:avLst/>
          </a:prstGeom>
        </p:spPr>
      </p:pic>
      <p:pic>
        <p:nvPicPr>
          <p:cNvPr id="14" name="Picture 13" descr="cm_caixinha_03_6c2bb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7458" y="4644000"/>
            <a:ext cx="819082" cy="720000"/>
          </a:xfrm>
          <a:prstGeom prst="rect">
            <a:avLst/>
          </a:prstGeom>
        </p:spPr>
      </p:pic>
      <p:pic>
        <p:nvPicPr>
          <p:cNvPr id="15" name="Picture 14" descr="cm_caixinha_04_e4c74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458" y="4644000"/>
            <a:ext cx="819082" cy="720000"/>
          </a:xfrm>
          <a:prstGeom prst="rect">
            <a:avLst/>
          </a:prstGeom>
        </p:spPr>
      </p:pic>
      <p:pic>
        <p:nvPicPr>
          <p:cNvPr id="16" name="Picture 15" descr="cm_caixinha_05_5f200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458" y="4644000"/>
            <a:ext cx="819082" cy="720000"/>
          </a:xfrm>
          <a:prstGeom prst="rect">
            <a:avLst/>
          </a:prstGeom>
        </p:spPr>
      </p:pic>
      <p:pic>
        <p:nvPicPr>
          <p:cNvPr id="17" name="Picture 16" descr="cm_caixinha_06_ab62a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5458" y="4644000"/>
            <a:ext cx="819082" cy="720000"/>
          </a:xfrm>
          <a:prstGeom prst="rect">
            <a:avLst/>
          </a:prstGeom>
        </p:spPr>
      </p:pic>
      <p:pic>
        <p:nvPicPr>
          <p:cNvPr id="18" name="Picture 17" descr="cm_caixinha_07_6bbb6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458" y="5436000"/>
            <a:ext cx="819082" cy="720000"/>
          </a:xfrm>
          <a:prstGeom prst="rect">
            <a:avLst/>
          </a:prstGeom>
        </p:spPr>
      </p:pic>
      <p:pic>
        <p:nvPicPr>
          <p:cNvPr id="19" name="Picture 18" descr="cm_caixinha_08_c1ea3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1458" y="5436000"/>
            <a:ext cx="819082" cy="720000"/>
          </a:xfrm>
          <a:prstGeom prst="rect">
            <a:avLst/>
          </a:prstGeom>
        </p:spPr>
      </p:pic>
      <p:pic>
        <p:nvPicPr>
          <p:cNvPr id="20" name="Picture 19" descr="cm_caixinha_09_5a328d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7458" y="5436000"/>
            <a:ext cx="819082" cy="720000"/>
          </a:xfrm>
          <a:prstGeom prst="rect">
            <a:avLst/>
          </a:prstGeom>
        </p:spPr>
      </p:pic>
      <p:pic>
        <p:nvPicPr>
          <p:cNvPr id="21" name="Picture 20" descr="cm_caixinha_10_45f86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3458" y="5436000"/>
            <a:ext cx="819082" cy="720000"/>
          </a:xfrm>
          <a:prstGeom prst="rect">
            <a:avLst/>
          </a:prstGeom>
        </p:spPr>
      </p:pic>
      <p:pic>
        <p:nvPicPr>
          <p:cNvPr id="22" name="Picture 21" descr="cm_caixinha_11_2f611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99458" y="5436000"/>
            <a:ext cx="819082" cy="720000"/>
          </a:xfrm>
          <a:prstGeom prst="rect">
            <a:avLst/>
          </a:prstGeom>
        </p:spPr>
      </p:pic>
      <p:pic>
        <p:nvPicPr>
          <p:cNvPr id="23" name="Picture 22" descr="cm_caixinha_12_f0d2b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85458" y="5436000"/>
            <a:ext cx="819082" cy="72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6000" y="6264000"/>
            <a:ext cx="640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55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Bergamota  ·  maçã e canela  ·  laranja  ·  figo  ·  cardamomo e canela  ·  abacaxi e gengibre  ·  limão  ·  banana e baunilha  ·  cranberry e hibisco  ·  tosta média  ·  verde repousado  ·  tosta alta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" y="7020000"/>
            <a:ext cx="2016000" cy="2736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cm_familia_75g_07f66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7729" y="7200000"/>
            <a:ext cx="712540" cy="93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2000" y="8244000"/>
            <a:ext cx="158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2B1B14"/>
                </a:solidFill>
                <a:latin typeface="Barlow Condensed"/>
              </a:rPr>
              <a:t>CHÁ MATE 75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8532000"/>
            <a:ext cx="1584000" cy="11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9"/>
              </a:lnSpc>
            </a:pPr>
            <a:r>
              <a:rPr sz="1150" b="0" i="0">
                <a:solidFill>
                  <a:srgbClr val="6B5B51"/>
                </a:solidFill>
                <a:latin typeface="Barlow"/>
              </a:rPr>
              <a:t>Tostado, pêssego e limão. 3 sachês de 25 g: cada um rende 1,5 L quente ou 1 L gelado.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2000" y="7020000"/>
            <a:ext cx="2016000" cy="2736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cm_erva_tostada_0d08d4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97500" y="7200000"/>
            <a:ext cx="1365000" cy="93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988000" y="8244000"/>
            <a:ext cx="158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2B1B14"/>
                </a:solidFill>
                <a:latin typeface="Barlow Condensed"/>
              </a:rPr>
              <a:t>A GRANEL 250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8000" y="8532000"/>
            <a:ext cx="1584000" cy="11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9"/>
              </a:lnSpc>
            </a:pPr>
            <a:r>
              <a:rPr sz="1150" b="0" i="0">
                <a:solidFill>
                  <a:srgbClr val="6B5B51"/>
                </a:solidFill>
                <a:latin typeface="Barlow"/>
              </a:rPr>
              <a:t>Tostado, pura folha, para coar em casa. Rende até 20 L. Caixa com 20 unidades.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8000" y="7020000"/>
            <a:ext cx="2016000" cy="2736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cm_erva_verde_7a2b6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99434" y="7200000"/>
            <a:ext cx="1353130" cy="936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84000" y="8244000"/>
            <a:ext cx="158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2B1B14"/>
                </a:solidFill>
                <a:latin typeface="Barlow Condensed"/>
              </a:rPr>
              <a:t>CHÁ MATE 110 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000" y="8532000"/>
            <a:ext cx="1584000" cy="11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9"/>
              </a:lnSpc>
            </a:pPr>
            <a:r>
              <a:rPr sz="1150" b="0" i="0">
                <a:solidFill>
                  <a:srgbClr val="6B5B51"/>
                </a:solidFill>
                <a:latin typeface="Barlow"/>
              </a:rPr>
              <a:t>Verde repousado e tostado. Folhas em repouso de 8 a 12 meses antes da moagem.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checkmate_logo_escuro_928fb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liqsy_logo_escuro_f010f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41" name="TextBox 40">
            <a:hlinkClick r:id="rId23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2B1B14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8C6B2F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2376000"/>
          </a:xfrm>
          <a:prstGeom prst="rect">
            <a:avLst/>
          </a:prstGeom>
          <a:solidFill>
            <a:srgbClr val="2F4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13405"/>
            <a:ext cx="7560000" cy="10800"/>
          </a:xfrm>
          <a:prstGeom prst="rect">
            <a:avLst/>
          </a:prstGeom>
          <a:solidFill>
            <a:srgbClr val="E0B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q_hero_83894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1682532"/>
            <a:ext cx="2592000" cy="3654252"/>
          </a:xfrm>
          <a:prstGeom prst="rect">
            <a:avLst/>
          </a:prstGeom>
        </p:spPr>
      </p:pic>
      <p:pic>
        <p:nvPicPr>
          <p:cNvPr id="6" name="Picture 5" descr="liqsy_logo_claro_dcb9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396000"/>
            <a:ext cx="2117647" cy="900000"/>
          </a:xfrm>
          <a:prstGeom prst="rect">
            <a:avLst/>
          </a:prstGeom>
        </p:spPr>
      </p:pic>
      <p:pic>
        <p:nvPicPr>
          <p:cNvPr id="7" name="Picture 6" descr="liqsy_tagline_claro_d9c3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476000"/>
            <a:ext cx="1851223" cy="54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00" y="2934805"/>
            <a:ext cx="432000" cy="21600"/>
          </a:xfrm>
          <a:prstGeom prst="rect">
            <a:avLst/>
          </a:prstGeom>
          <a:solidFill>
            <a:srgbClr val="8C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3028405"/>
            <a:ext cx="381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8C6B2F"/>
                </a:solidFill>
                <a:latin typeface="Barlow Condensed"/>
              </a:rPr>
              <a:t>XAROPES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258805"/>
            <a:ext cx="381600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3000" b="0" i="1">
                <a:solidFill>
                  <a:srgbClr val="28455A"/>
                </a:solidFill>
                <a:latin typeface="Playfair Display"/>
              </a:rPr>
              <a:t>9 sabores para</a:t>
            </a:r>
          </a:p>
          <a:p>
            <a:pPr algn="l">
              <a:lnSpc>
                <a:spcPts val="3240"/>
              </a:lnSpc>
            </a:pPr>
            <a:r>
              <a:rPr sz="3000" b="0" i="1">
                <a:solidFill>
                  <a:srgbClr val="8C6B2F"/>
                </a:solidFill>
                <a:latin typeface="Playfair Display"/>
              </a:rPr>
              <a:t>criar sem limites.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4230805"/>
            <a:ext cx="3816000" cy="93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3"/>
              </a:lnSpc>
            </a:pPr>
            <a:r>
              <a:rPr sz="1350" b="0" i="0">
                <a:solidFill>
                  <a:srgbClr val="6B5B51"/>
                </a:solidFill>
                <a:latin typeface="Barlow"/>
              </a:rPr>
              <a:t>Textura aveludada e diluição simples: das experiências cítricas às adocicadas, com sabor e personalidade em cada combinação.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5238805"/>
            <a:ext cx="3816000" cy="720000"/>
          </a:xfrm>
          <a:prstGeom prst="rect">
            <a:avLst/>
          </a:prstGeom>
          <a:solidFill>
            <a:srgbClr val="FFFBF6"/>
          </a:solidFill>
          <a:ln w="10800">
            <a:solidFill>
              <a:srgbClr val="E2D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5238805"/>
            <a:ext cx="1224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700"/>
              </a:lnSpc>
            </a:pPr>
            <a:r>
              <a:rPr sz="2700" b="1" i="0" spc="108">
                <a:solidFill>
                  <a:srgbClr val="28455A"/>
                </a:solidFill>
                <a:latin typeface="Barlow Condensed"/>
              </a:rPr>
              <a:t>1 + 10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4000" y="5238805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28455A"/>
                </a:solidFill>
                <a:latin typeface="Barlow"/>
              </a:rPr>
              <a:t>PREPARO SIMPLES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6B5B51"/>
                </a:solidFill>
                <a:latin typeface="Barlow"/>
              </a:rPr>
              <a:t>1 porção de xarope para 10 porções de água gelada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6138805"/>
            <a:ext cx="1818000" cy="648000"/>
          </a:xfrm>
          <a:prstGeom prst="rect">
            <a:avLst/>
          </a:prstGeom>
          <a:solidFill>
            <a:srgbClr val="284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6228805"/>
            <a:ext cx="1530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i="0" spc="78">
                <a:solidFill>
                  <a:srgbClr val="FAF4E8"/>
                </a:solidFill>
                <a:latin typeface="Barlow Condensed"/>
              </a:rPr>
              <a:t>GARRAFA 750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480805"/>
            <a:ext cx="1530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i="1">
                <a:solidFill>
                  <a:srgbClr val="E0BE5C"/>
                </a:solidFill>
                <a:latin typeface="Playfair Display"/>
              </a:rPr>
              <a:t>rende 8,25 litros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4000" y="6138805"/>
            <a:ext cx="1818000" cy="648000"/>
          </a:xfrm>
          <a:prstGeom prst="rect">
            <a:avLst/>
          </a:prstGeom>
          <a:solidFill>
            <a:srgbClr val="284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8000" y="6228805"/>
            <a:ext cx="1530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i="0" spc="78">
                <a:solidFill>
                  <a:srgbClr val="FAF4E8"/>
                </a:solidFill>
                <a:latin typeface="Barlow Condensed"/>
              </a:rPr>
              <a:t>BAG-IN-BOX 3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8000" y="6480805"/>
            <a:ext cx="1530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0" i="1">
                <a:solidFill>
                  <a:srgbClr val="E0BE5C"/>
                </a:solidFill>
                <a:latin typeface="Playfair Display"/>
              </a:rPr>
              <a:t>rende 33 litros</a:t>
            </a:r>
          </a:p>
        </p:txBody>
      </p:sp>
      <p:pic>
        <p:nvPicPr>
          <p:cNvPr id="21" name="Picture 20" descr="lq_garrafa_limao_siciliano_19x44_fe19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" y="7704000"/>
            <a:ext cx="698400" cy="158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400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LIMÃO</a:t>
            </a:r>
          </a:p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SICILIANO</a:t>
            </a:r>
          </a:p>
        </p:txBody>
      </p:sp>
      <p:pic>
        <p:nvPicPr>
          <p:cNvPr id="23" name="Picture 22" descr="lq_garrafa_gengibre_19x44_a84f5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360" y="7704000"/>
            <a:ext cx="698400" cy="158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1436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GENGIBRE</a:t>
            </a:r>
          </a:p>
        </p:txBody>
      </p:sp>
      <p:pic>
        <p:nvPicPr>
          <p:cNvPr id="25" name="Picture 24" descr="lq_garrafa_morango_19x44_51b6d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6720" y="7704000"/>
            <a:ext cx="698400" cy="158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2472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MORANGO</a:t>
            </a:r>
          </a:p>
        </p:txBody>
      </p:sp>
      <p:pic>
        <p:nvPicPr>
          <p:cNvPr id="27" name="Picture 26" descr="lq_garrafa_maca_verde_19x44_8534b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7080" y="7704000"/>
            <a:ext cx="698400" cy="1584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3508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MAÇÃ</a:t>
            </a:r>
          </a:p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VERDE</a:t>
            </a:r>
          </a:p>
        </p:txBody>
      </p:sp>
      <p:pic>
        <p:nvPicPr>
          <p:cNvPr id="29" name="Picture 28" descr="lq_garrafa_cranberry_19x44_82c64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7439" y="7704000"/>
            <a:ext cx="698400" cy="158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745439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CRANBERRY</a:t>
            </a:r>
          </a:p>
        </p:txBody>
      </p:sp>
      <p:pic>
        <p:nvPicPr>
          <p:cNvPr id="31" name="Picture 30" descr="lq_garrafa_frutas_vermelhas_19x44_2e3e0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7799" y="7704000"/>
            <a:ext cx="698400" cy="1584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55799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FRUTAS</a:t>
            </a:r>
          </a:p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VERMELHAS</a:t>
            </a:r>
          </a:p>
        </p:txBody>
      </p:sp>
      <p:pic>
        <p:nvPicPr>
          <p:cNvPr id="33" name="Picture 32" descr="lq_garrafa_pessego_19x44_1f8627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8160" y="7704000"/>
            <a:ext cx="698400" cy="1584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6616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PÊSSEGO</a:t>
            </a:r>
          </a:p>
        </p:txBody>
      </p:sp>
      <p:pic>
        <p:nvPicPr>
          <p:cNvPr id="35" name="Picture 34" descr="lq_garrafa_limao_19x44_72e3c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520" y="7704000"/>
            <a:ext cx="698400" cy="1584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76520" y="9324000"/>
            <a:ext cx="8424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 i="0" spc="42">
                <a:solidFill>
                  <a:srgbClr val="28455A"/>
                </a:solidFill>
                <a:latin typeface="Barlow Condensed"/>
              </a:rPr>
              <a:t>LIMÃO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7380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</a:pPr>
            <a:r>
              <a:rPr sz="1200" b="0" i="0">
                <a:solidFill>
                  <a:srgbClr val="28455A"/>
                </a:solidFill>
                <a:latin typeface="Barlow"/>
              </a:rPr>
              <a:t>9 SABORES</a:t>
            </a:r>
            <a:r>
              <a:rPr sz="1200" b="0" i="0">
                <a:solidFill>
                  <a:srgbClr val="6B5B51"/>
                </a:solidFill>
                <a:latin typeface="Barlow"/>
              </a:rPr>
              <a:t>  ·  bergamota, no destaque acima, e mais estes 8, em garrafa e bag-in-box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checkmate_logo_escuro_928fb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liqsy_logo_escuro_f010f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42" name="TextBox 41">
            <a:hlinkClick r:id="rId15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2B1B14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8C6B2F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D15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q_bartender_210x90_83b8b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240000"/>
          </a:xfrm>
          <a:prstGeom prst="rect">
            <a:avLst/>
          </a:prstGeom>
        </p:spPr>
      </p:pic>
      <p:pic>
        <p:nvPicPr>
          <p:cNvPr id="4" name="Picture 3" descr="grad_05a6800f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0000"/>
            <a:ext cx="7560000" cy="180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3024000"/>
            <a:ext cx="432000" cy="2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3117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C9A45C"/>
                </a:solidFill>
                <a:latin typeface="Barlow Condensed"/>
              </a:rPr>
              <a:t>FICHAS TÉCNICAS DE DRINKS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3348000"/>
            <a:ext cx="6408000" cy="10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6"/>
              </a:lnSpc>
            </a:pPr>
            <a:r>
              <a:rPr sz="3200" b="0" i="1">
                <a:solidFill>
                  <a:srgbClr val="F7EFE6"/>
                </a:solidFill>
                <a:latin typeface="Playfair Display"/>
              </a:rPr>
              <a:t>O cardápio já vem</a:t>
            </a:r>
          </a:p>
          <a:p>
            <a:pPr algn="l">
              <a:lnSpc>
                <a:spcPts val="3456"/>
              </a:lnSpc>
            </a:pPr>
            <a:r>
              <a:rPr sz="3200" b="0" i="1">
                <a:solidFill>
                  <a:srgbClr val="C9A45C"/>
                </a:solidFill>
                <a:latin typeface="Playfair Display"/>
              </a:rPr>
              <a:t>com a conta feita.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4392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450" b="0" i="0">
                <a:solidFill>
                  <a:srgbClr val="C2B5A9"/>
                </a:solidFill>
                <a:latin typeface="Barlow"/>
              </a:rPr>
              <a:t>18 drinks feitos com chás Checkmate e xaropes Liqsy, com ficha de preparo, custo e precificação.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5040000"/>
            <a:ext cx="1992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5148000"/>
            <a:ext cx="19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0"/>
              </a:lnSpc>
            </a:pPr>
            <a:r>
              <a:rPr sz="2100" b="1" i="0" spc="84">
                <a:solidFill>
                  <a:srgbClr val="C9A45C"/>
                </a:solidFill>
                <a:latin typeface="Barlow Condensed"/>
              </a:rPr>
              <a:t>18 drinks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5544000"/>
            <a:ext cx="1992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C2B5A9"/>
                </a:solidFill>
                <a:latin typeface="Barlow"/>
              </a:rPr>
              <a:t>14 com álcool e 4 sem álcool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4000" y="5040000"/>
            <a:ext cx="1992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4000" y="5148000"/>
            <a:ext cx="19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0"/>
              </a:lnSpc>
            </a:pPr>
            <a:r>
              <a:rPr sz="2100" b="1" i="0" spc="84">
                <a:solidFill>
                  <a:srgbClr val="C9A45C"/>
                </a:solidFill>
                <a:latin typeface="Barlow Condensed"/>
              </a:rPr>
              <a:t>até R$ 21,96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4000" y="5544000"/>
            <a:ext cx="1992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C2B5A9"/>
                </a:solidFill>
                <a:latin typeface="Barlow"/>
              </a:rPr>
              <a:t>de lucro bruto estimado por drink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000" y="5040000"/>
            <a:ext cx="1992000" cy="18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000" y="5148000"/>
            <a:ext cx="199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100"/>
              </a:lnSpc>
            </a:pPr>
            <a:r>
              <a:rPr sz="2100" b="1" i="0" spc="84">
                <a:solidFill>
                  <a:srgbClr val="C9A45C"/>
                </a:solidFill>
                <a:latin typeface="Barlow Condensed"/>
              </a:rPr>
              <a:t>a partir de R$ 7,58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000" y="5544000"/>
            <a:ext cx="1992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C2B5A9"/>
                </a:solidFill>
                <a:latin typeface="Barlow"/>
              </a:rPr>
              <a:t>de custo total por drink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6048000"/>
            <a:ext cx="3096000" cy="1602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6210000"/>
            <a:ext cx="266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147">
                <a:solidFill>
                  <a:srgbClr val="C9A45C"/>
                </a:solidFill>
                <a:latin typeface="Barlow Condensed"/>
              </a:rPr>
              <a:t>COM ÁLCOOL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6408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0" i="1">
                <a:solidFill>
                  <a:srgbClr val="F7EFE6"/>
                </a:solidFill>
                <a:latin typeface="Playfair Display"/>
              </a:rPr>
              <a:t>Good Apple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67500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Vodka Smirnoff, xarope de maçã verde, suco de laranja e refrigerante de limão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" y="7200000"/>
            <a:ext cx="2664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CUSTO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R$ 8,04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0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VENDA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80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R$ 30,00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8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LUCRO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8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C9A45C"/>
                </a:solidFill>
                <a:latin typeface="Barlow Condensed"/>
              </a:rPr>
              <a:t>R$ 21,96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8000" y="6048000"/>
            <a:ext cx="3096000" cy="1602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04000" y="6210000"/>
            <a:ext cx="266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147">
                <a:solidFill>
                  <a:srgbClr val="C9A45C"/>
                </a:solidFill>
                <a:latin typeface="Barlow Condensed"/>
              </a:rPr>
              <a:t>COM ÁLCOOL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4000" y="6408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0" i="1">
                <a:solidFill>
                  <a:srgbClr val="F7EFE6"/>
                </a:solidFill>
                <a:latin typeface="Playfair Display"/>
              </a:rPr>
              <a:t>Sunset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4000" y="67500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Vodka Smirnoff, xarope de pêssego, suco de laranja néctar e xarope de frutas vermelhas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4000" y="7200000"/>
            <a:ext cx="2664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4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CUSTO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4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R$ 8,27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VENDA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R$ 30,00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0000" y="7254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LUCRO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0000" y="7405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C9A45C"/>
                </a:solidFill>
                <a:latin typeface="Barlow Condensed"/>
              </a:rPr>
              <a:t>R$ 21,73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00" y="7830000"/>
            <a:ext cx="3096000" cy="1602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000" y="7992000"/>
            <a:ext cx="266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147">
                <a:solidFill>
                  <a:srgbClr val="C9A45C"/>
                </a:solidFill>
                <a:latin typeface="Barlow Condensed"/>
              </a:rPr>
              <a:t>COM ÁLCOOL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000" y="8190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0" i="1">
                <a:solidFill>
                  <a:srgbClr val="F7EFE6"/>
                </a:solidFill>
                <a:latin typeface="Playfair Display"/>
              </a:rPr>
              <a:t>Moscow Mule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000" y="85320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Vodka Smirnoff, xarope de gengibre, xarope de limão-taiti e espuma cítrica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2000" y="8982000"/>
            <a:ext cx="2664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2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CUSTO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R$ 10,15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80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VENDA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80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R$ 30,00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8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LUCRO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8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C9A45C"/>
                </a:solidFill>
                <a:latin typeface="Barlow Condensed"/>
              </a:rPr>
              <a:t>R$ 19,85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88000" y="7830000"/>
            <a:ext cx="3096000" cy="1602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04000" y="7992000"/>
            <a:ext cx="26640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"/>
              </a:lnSpc>
            </a:pPr>
            <a:r>
              <a:rPr sz="1050" b="1" i="0" spc="147">
                <a:solidFill>
                  <a:srgbClr val="C9A45C"/>
                </a:solidFill>
                <a:latin typeface="Barlow Condensed"/>
              </a:rPr>
              <a:t>SEM ÁLCOOL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4000" y="8190000"/>
            <a:ext cx="266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0" i="1">
                <a:solidFill>
                  <a:srgbClr val="F7EFE6"/>
                </a:solidFill>
                <a:latin typeface="Playfair Display"/>
              </a:rPr>
              <a:t>Sicilian Cooler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4000" y="85320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Chá de limão-siciliano, xarope de limão-taiti, hortelã e água com gás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04000" y="8982000"/>
            <a:ext cx="2664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04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CUSTO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4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R$ 7,58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92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VENDA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92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F7EFE6"/>
                </a:solidFill>
                <a:latin typeface="Barlow Condensed"/>
              </a:rPr>
              <a:t>R$ 24,00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80000" y="9036000"/>
            <a:ext cx="888000" cy="1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1" i="0" spc="108">
                <a:solidFill>
                  <a:srgbClr val="C2B5A9"/>
                </a:solidFill>
                <a:latin typeface="Barlow Condensed"/>
              </a:rPr>
              <a:t>LUCRO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80000" y="9187200"/>
            <a:ext cx="888000" cy="19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350" b="1" i="0" spc="54">
                <a:solidFill>
                  <a:srgbClr val="C9A45C"/>
                </a:solidFill>
                <a:latin typeface="Barlow Condensed"/>
              </a:rPr>
              <a:t>R$ 16,42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000" y="9504000"/>
            <a:ext cx="640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C2B5A9"/>
                </a:solidFill>
                <a:latin typeface="Barlow"/>
              </a:rPr>
              <a:t>Fichas técnicas elaboradas por Antonio Marcos Monteiro | O Homem Drink. Valores de referência: custos variam conforme fornecedores e região.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3E3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checkmate_logo_claro_7994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C2B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liqsy_logo_claro_7159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67" name="TextBox 66">
            <a:hlinkClick r:id="rId6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F7EFE6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C9A45C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AF4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432000" cy="21600"/>
          </a:xfrm>
          <a:prstGeom prst="rect">
            <a:avLst/>
          </a:prstGeom>
          <a:solidFill>
            <a:srgbClr val="8C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69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8C6B2F"/>
                </a:solidFill>
                <a:latin typeface="Barlow Condensed"/>
              </a:rPr>
              <a:t>CARDÁPIO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00000"/>
            <a:ext cx="6408000" cy="50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4"/>
              </a:lnSpc>
            </a:pPr>
            <a:r>
              <a:rPr sz="2800" b="0" i="1">
                <a:solidFill>
                  <a:srgbClr val="2B1B14"/>
                </a:solidFill>
                <a:latin typeface="Playfair Display"/>
              </a:rPr>
              <a:t>Custo e lucro de </a:t>
            </a:r>
            <a:r>
              <a:rPr sz="2800" b="0" i="1">
                <a:solidFill>
                  <a:srgbClr val="8C6B2F"/>
                </a:solidFill>
                <a:latin typeface="Playfair Display"/>
              </a:rPr>
              <a:t>cada drink.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5480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102"/>
              </a:lnSpc>
            </a:pPr>
            <a:r>
              <a:rPr sz="1050" b="1" i="0" spc="105">
                <a:solidFill>
                  <a:srgbClr val="6B5B51"/>
                </a:solidFill>
                <a:latin typeface="Barlow Condensed"/>
              </a:rPr>
              <a:t>DRINK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2000" y="154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102"/>
              </a:lnSpc>
            </a:pPr>
            <a:r>
              <a:rPr sz="1050" b="1" i="0" spc="105">
                <a:solidFill>
                  <a:srgbClr val="6B5B51"/>
                </a:solidFill>
                <a:latin typeface="Barlow Condensed"/>
              </a:rPr>
              <a:t>CHÁS E XAROPES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2000" y="1548000"/>
            <a:ext cx="756000" cy="36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102"/>
              </a:lnSpc>
            </a:pPr>
            <a:r>
              <a:rPr sz="1050" b="1" i="0" spc="105">
                <a:solidFill>
                  <a:srgbClr val="6B5B51"/>
                </a:solidFill>
                <a:latin typeface="Barlow Condensed"/>
              </a:rPr>
              <a:t>CUSTO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8000" y="1548000"/>
            <a:ext cx="756000" cy="36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102"/>
              </a:lnSpc>
            </a:pPr>
            <a:r>
              <a:rPr sz="1050" b="1" i="0" spc="105">
                <a:solidFill>
                  <a:srgbClr val="6B5B51"/>
                </a:solidFill>
                <a:latin typeface="Barlow Condensed"/>
              </a:rPr>
              <a:t>LUCRO BRUTO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000" y="1548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ts val="1102"/>
              </a:lnSpc>
            </a:pPr>
            <a:r>
              <a:rPr sz="1050" b="1" i="0" spc="105">
                <a:solidFill>
                  <a:srgbClr val="6B5B51"/>
                </a:solidFill>
                <a:latin typeface="Barlow Condensed"/>
              </a:rPr>
              <a:t>CUSTO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908000"/>
            <a:ext cx="6408000" cy="18000"/>
          </a:xfrm>
          <a:prstGeom prst="rect">
            <a:avLst/>
          </a:prstGeom>
          <a:solidFill>
            <a:srgbClr val="2B1B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00" y="1980000"/>
            <a:ext cx="6408000" cy="270000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1980000"/>
            <a:ext cx="626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85"/>
              </a:lnSpc>
            </a:pPr>
            <a:r>
              <a:rPr sz="1100" b="1" i="0" spc="110">
                <a:solidFill>
                  <a:srgbClr val="8C6B2F"/>
                </a:solidFill>
                <a:latin typeface="Barlow Condensed"/>
              </a:rPr>
              <a:t>COM ÁLCOOL  ·  PREÇO DE VENDA R$ 30,00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2286000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Good Apple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000" y="2286000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maçã verde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2000" y="2286000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R$ 8,04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8000" y="2286000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R$ 21,96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4000" y="2286000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26,8%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6261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2631600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Sunset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000" y="2631600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pêssego e frutas vermelhas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000" y="2631600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R$ 8,27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8000" y="2631600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R$ 21,73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4000" y="2631600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27,6%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" y="29717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9771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Negroni com Frutas Vermelhas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000" y="29771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frutas vermelhas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2000" y="2977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R$ 9,93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8000" y="2977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R$ 20,07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4000" y="29771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33,1%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33173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33227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Moscow Mule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000" y="33227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gengibre e limão-taiti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000" y="3322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R$ 10,15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8000" y="3322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R$ 19,85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4000" y="33227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33,8%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00" y="36629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6683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Red Mule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000" y="36683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gengibre e limão-taiti e frutas vermelhas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2000" y="3668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R$ 10,20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08000" y="3668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R$ 19,80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4000" y="36683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34,0%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00" y="40085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000" y="40139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Chá Caribenho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000" y="40139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limão-siciliano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2000" y="4013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R$ 10,49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8000" y="4013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R$ 19,51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4000" y="40139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35,0%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00" y="43541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3595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Green Apple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4000" y="43595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maçã verde e limão-siciliano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2000" y="4359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R$ 10,72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8000" y="4359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R$ 19,28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4000" y="43595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35,7%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00" y="46997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8000" y="47051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Sicília Sunset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4000" y="47051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limão-siciliano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2000" y="4705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R$ 11,30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8000" y="4705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R$ 18,70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4000" y="47051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37,7%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00" y="50453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8000" y="50507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Pink Lady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4000" y="50507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frutas vermelhas e limão-taiti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2000" y="5050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R$ 11,35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8000" y="5050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R$ 18,65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4000" y="50507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37,8%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00" y="53909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000" y="53963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Mojito de Tangerina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04000" y="53963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tangerina e limão-taiti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2000" y="5396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R$ 12,62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8000" y="5396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R$ 17,38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4000" y="53963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42,1%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00" y="57365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8000" y="57419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Strawberry Smash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04000" y="57419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morango  ·  Xarope limão-taiti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2000" y="5741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R$ 12,63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8000" y="5741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R$ 17,37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4000" y="57419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42,1%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76000" y="60821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8000" y="60875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Bellini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4000" y="60875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pêssego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2000" y="6087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R$ 13,31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08000" y="6087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R$ 16,69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4000" y="60875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44,4%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6000" y="64277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8000" y="64331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04000" y="64331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frutas vermelhas e limão-siciliano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52000" y="6433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R$ 15,69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8000" y="6433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R$ 14,31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4000" y="64331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52,3%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6000" y="67733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8000" y="67787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Tangerina Spritz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4000" y="67787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Xarope tangerina e limão-siciliano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52000" y="6778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R$ 15,83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08000" y="67787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R$ 14,17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4000" y="67787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52,8%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6000" y="71189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76000" y="7196399"/>
            <a:ext cx="6408000" cy="270000"/>
          </a:xfrm>
          <a:prstGeom prst="rect">
            <a:avLst/>
          </a:prstGeom>
          <a:solidFill>
            <a:srgbClr val="EFE6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8000" y="7196399"/>
            <a:ext cx="6264000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85"/>
              </a:lnSpc>
            </a:pPr>
            <a:r>
              <a:rPr sz="1100" b="1" i="0" spc="110">
                <a:solidFill>
                  <a:srgbClr val="8C6B2F"/>
                </a:solidFill>
                <a:latin typeface="Barlow Condensed"/>
              </a:rPr>
              <a:t>SEM ÁLCOOL  ·  PREÇO DE VENDA R$ 24,00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8000" y="75023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Sicilian Cooler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04000" y="75023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limão-siciliano  ·  Xarope limão-taiti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2000" y="7502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R$ 7,58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08000" y="75023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R$ 16,42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4000" y="75023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31,6%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6000" y="78425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8000" y="78479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Green Fresh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304000" y="78479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maçã verde  ·  Xarope maçã verde e limão-siciliano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2000" y="7847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R$ 8,38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08000" y="78479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R$ 15,62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4000" y="78479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34,9%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6000" y="81881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48000" y="81935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Pink Tangerina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04000" y="81935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tangerina  ·  Xarope tangerina e morango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52000" y="8193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R$ 8,38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08000" y="81935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R$ 15,62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4000" y="81935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34,9%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6000" y="85337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8000" y="8539199"/>
            <a:ext cx="15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1B14"/>
                </a:solidFill>
                <a:latin typeface="Barlow Condensed"/>
              </a:rPr>
              <a:t>Stea Red Fruit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04000" y="8539199"/>
            <a:ext cx="2448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55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Chá cranberry  ·  Xarope cranberry e limão-taiti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52000" y="8539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2B1B14"/>
                </a:solidFill>
                <a:latin typeface="Barlow Condensed"/>
              </a:rPr>
              <a:t>R$ 8,58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08000" y="8539199"/>
            <a:ext cx="720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1" i="0">
                <a:solidFill>
                  <a:srgbClr val="5E6B32"/>
                </a:solidFill>
                <a:latin typeface="Barlow Condensed"/>
              </a:rPr>
              <a:t>R$ 15,42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4000" y="8539199"/>
            <a:ext cx="684000" cy="34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430"/>
              </a:lnSpc>
            </a:pPr>
            <a:r>
              <a:rPr sz="1300" b="0" i="0">
                <a:solidFill>
                  <a:srgbClr val="6B5B51"/>
                </a:solidFill>
                <a:latin typeface="Barlow Condensed"/>
              </a:rPr>
              <a:t>35,8%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6000" y="8879399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000" y="9010799"/>
            <a:ext cx="6408000" cy="4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 i="0">
                <a:solidFill>
                  <a:srgbClr val="6B5B51"/>
                </a:solidFill>
                <a:latin typeface="Barlow"/>
              </a:rPr>
              <a:t>Custo total = insumos + 12% de operação do bar, conforme as fichas técnicas de Antonio Marcos Monteiro | O Homem Drink. Fichas completas com modo de preparo com o Felipe.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76000" y="9972000"/>
            <a:ext cx="6408000" cy="108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6" name="Picture 125" descr="checkmate_logo_escuro_928f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0227600"/>
            <a:ext cx="879709" cy="1512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1599709" y="10180800"/>
            <a:ext cx="10800" cy="252000"/>
          </a:xfrm>
          <a:prstGeom prst="rect">
            <a:avLst/>
          </a:prstGeom>
          <a:solidFill>
            <a:srgbClr val="E2D5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8" name="Picture 127" descr="liqsy_logo_escuro_f010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709" y="10119600"/>
            <a:ext cx="711529" cy="302400"/>
          </a:xfrm>
          <a:prstGeom prst="rect">
            <a:avLst/>
          </a:prstGeom>
        </p:spPr>
      </p:pic>
      <p:sp>
        <p:nvSpPr>
          <p:cNvPr id="129" name="TextBox 128">
            <a:hlinkClick r:id="rId4"/>
          </p:cNvPr>
          <p:cNvSpPr txBox="1"/>
          <p:nvPr/>
        </p:nvSpPr>
        <p:spPr>
          <a:xfrm>
            <a:off x="3600000" y="10108800"/>
            <a:ext cx="338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i="0" spc="39">
                <a:solidFill>
                  <a:srgbClr val="2B1B14"/>
                </a:solidFill>
                <a:latin typeface="Barlow Condensed"/>
              </a:rPr>
              <a:t>Pedidos com Felipe  </a:t>
            </a:r>
            <a:r>
              <a:rPr sz="1300" b="1" i="0" spc="39">
                <a:solidFill>
                  <a:srgbClr val="8C6B2F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1D15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m_granel_cena_210x100_0489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600000"/>
          </a:xfrm>
          <a:prstGeom prst="rect">
            <a:avLst/>
          </a:prstGeom>
        </p:spPr>
      </p:pic>
      <p:pic>
        <p:nvPicPr>
          <p:cNvPr id="4" name="Picture 3" descr="grad_0585b527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0000"/>
            <a:ext cx="7560000" cy="21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3348000"/>
            <a:ext cx="432000" cy="216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34416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i="0" spc="200">
                <a:solidFill>
                  <a:srgbClr val="C9A45C"/>
                </a:solidFill>
                <a:latin typeface="Barlow Condensed"/>
              </a:rPr>
              <a:t>FAÇA SEU PEDIDO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367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40"/>
              </a:lnSpc>
            </a:pPr>
            <a:r>
              <a:rPr sz="3000" b="0" i="1">
                <a:solidFill>
                  <a:srgbClr val="F7EFE6"/>
                </a:solidFill>
                <a:latin typeface="Playfair Display"/>
              </a:rPr>
              <a:t>Vamos montar o cardápio</a:t>
            </a:r>
          </a:p>
          <a:p>
            <a:pPr algn="l">
              <a:lnSpc>
                <a:spcPts val="3240"/>
              </a:lnSpc>
            </a:pPr>
            <a:r>
              <a:rPr sz="3000" b="0" i="1">
                <a:solidFill>
                  <a:srgbClr val="C9A45C"/>
                </a:solidFill>
                <a:latin typeface="Playfair Display"/>
              </a:rPr>
              <a:t>de bebidas do seu negócio?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4752000"/>
            <a:ext cx="6408000" cy="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</a:pPr>
            <a:r>
              <a:rPr sz="1450" b="0" i="0">
                <a:solidFill>
                  <a:srgbClr val="E2D8CE"/>
                </a:solidFill>
                <a:latin typeface="Barlow"/>
              </a:rPr>
              <a:t>Fale com o Felipe e receba a tabela de preços, as condições e a indicação dos produtos certos para o seu público.</a:t>
            </a:r>
          </a:p>
        </p:txBody>
      </p:sp>
      <p:sp>
        <p:nvSpPr>
          <p:cNvPr id="9" name="Oval 8"/>
          <p:cNvSpPr/>
          <p:nvPr/>
        </p:nvSpPr>
        <p:spPr>
          <a:xfrm>
            <a:off x="576000" y="5472000"/>
            <a:ext cx="360000" cy="360000"/>
          </a:xfrm>
          <a:prstGeom prst="ellipse">
            <a:avLst/>
          </a:prstGeom>
          <a:noFill/>
          <a:ln w="16200">
            <a:solidFill>
              <a:srgbClr val="C9A4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5472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 i="0" spc="64">
                <a:solidFill>
                  <a:srgbClr val="C9A45C"/>
                </a:solidFill>
                <a:latin typeface="Barlow Condense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5940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F7EFE6"/>
                </a:solidFill>
                <a:latin typeface="Barlow Condensed"/>
              </a:rPr>
              <a:t>CHAME NO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Fale direto com o Felipe.</a:t>
            </a:r>
          </a:p>
        </p:txBody>
      </p:sp>
      <p:sp>
        <p:nvSpPr>
          <p:cNvPr id="13" name="Oval 12"/>
          <p:cNvSpPr/>
          <p:nvPr/>
        </p:nvSpPr>
        <p:spPr>
          <a:xfrm>
            <a:off x="2795999" y="5472000"/>
            <a:ext cx="360000" cy="360000"/>
          </a:xfrm>
          <a:prstGeom prst="ellipse">
            <a:avLst/>
          </a:prstGeom>
          <a:noFill/>
          <a:ln w="16200">
            <a:solidFill>
              <a:srgbClr val="C9A4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5999" y="5472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 i="0" spc="64">
                <a:solidFill>
                  <a:srgbClr val="C9A45C"/>
                </a:solidFill>
                <a:latin typeface="Barlow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5999" y="5940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F7EFE6"/>
                </a:solidFill>
                <a:latin typeface="Barlow Condensed"/>
              </a:rPr>
              <a:t>CONTE SOBRE O NEGÓCIO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5999" y="6192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Tipo de casa, público e bebidas que já vende.</a:t>
            </a:r>
          </a:p>
        </p:txBody>
      </p:sp>
      <p:sp>
        <p:nvSpPr>
          <p:cNvPr id="17" name="Oval 16"/>
          <p:cNvSpPr/>
          <p:nvPr/>
        </p:nvSpPr>
        <p:spPr>
          <a:xfrm>
            <a:off x="5015999" y="5472000"/>
            <a:ext cx="360000" cy="360000"/>
          </a:xfrm>
          <a:prstGeom prst="ellipse">
            <a:avLst/>
          </a:prstGeom>
          <a:noFill/>
          <a:ln w="16200">
            <a:solidFill>
              <a:srgbClr val="C9A4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5999" y="5472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 i="0" spc="64">
                <a:solidFill>
                  <a:srgbClr val="C9A45C"/>
                </a:solidFill>
                <a:latin typeface="Barlow Condense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5999" y="5940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1450" b="1" i="0" spc="58">
                <a:solidFill>
                  <a:srgbClr val="F7EFE6"/>
                </a:solidFill>
                <a:latin typeface="Barlow Condensed"/>
              </a:rPr>
              <a:t>RECEBA TABELA E FICHAS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5999" y="6192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0" i="0">
                <a:solidFill>
                  <a:srgbClr val="C2B5A9"/>
                </a:solidFill>
                <a:latin typeface="Barlow"/>
              </a:rPr>
              <a:t>Preços, condições e fichas técnicas de drinks.</a:t>
            </a:r>
          </a:p>
        </p:txBody>
      </p:sp>
      <p:sp>
        <p:nvSpPr>
          <p:cNvPr id="21" name="Rectangle 20">
            <a:hlinkClick r:id="rId4"/>
          </p:cNvPr>
          <p:cNvSpPr/>
          <p:nvPr/>
        </p:nvSpPr>
        <p:spPr>
          <a:xfrm>
            <a:off x="576000" y="6840000"/>
            <a:ext cx="6408000" cy="2304000"/>
          </a:xfrm>
          <a:prstGeom prst="rect">
            <a:avLst/>
          </a:prstGeom>
          <a:solidFill>
            <a:srgbClr val="2A20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00" y="6840000"/>
            <a:ext cx="43200" cy="230400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7092000"/>
            <a:ext cx="4032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i="0" spc="156">
                <a:solidFill>
                  <a:srgbClr val="C9A45C"/>
                </a:solidFill>
                <a:latin typeface="Barlow Condensed"/>
              </a:rPr>
              <a:t>FELIPE  |  REPRESENTANTE COMERCIAL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864000" y="7380000"/>
            <a:ext cx="4176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400"/>
              </a:lnSpc>
            </a:pPr>
            <a:r>
              <a:rPr sz="4400" b="1" i="0">
                <a:solidFill>
                  <a:srgbClr val="F7EFE6"/>
                </a:solidFill>
                <a:latin typeface="Barlow Condensed"/>
              </a:rPr>
              <a:t>(16) 99101-9797</a:t>
            </a:r>
          </a:p>
        </p:txBody>
      </p:sp>
      <p:sp>
        <p:nvSpPr>
          <p:cNvPr id="25" name="Rounded Rectangle 24">
            <a:hlinkClick r:id="rId4"/>
          </p:cNvPr>
          <p:cNvSpPr/>
          <p:nvPr/>
        </p:nvSpPr>
        <p:spPr>
          <a:xfrm>
            <a:off x="864000" y="8316000"/>
            <a:ext cx="2952000" cy="50400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4"/>
          </p:cNvPr>
          <p:cNvSpPr txBox="1"/>
          <p:nvPr/>
        </p:nvSpPr>
        <p:spPr>
          <a:xfrm>
            <a:off x="864000" y="8316000"/>
            <a:ext cx="295200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25"/>
              </a:lnSpc>
            </a:pPr>
            <a:r>
              <a:rPr sz="1500" b="1" i="0" spc="120">
                <a:solidFill>
                  <a:srgbClr val="1D1512"/>
                </a:solidFill>
                <a:latin typeface="Barlow Condensed"/>
              </a:rPr>
              <a:t>CHAMAR NO WHATSAPP</a:t>
            </a:r>
          </a:p>
        </p:txBody>
      </p:sp>
      <p:sp>
        <p:nvSpPr>
          <p:cNvPr id="27" name="Rounded Rectangle 26">
            <a:hlinkClick r:id="rId4"/>
          </p:cNvPr>
          <p:cNvSpPr/>
          <p:nvPr/>
        </p:nvSpPr>
        <p:spPr>
          <a:xfrm>
            <a:off x="5112000" y="7020000"/>
            <a:ext cx="1656000" cy="16560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qr_whatsapp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000" y="7146000"/>
            <a:ext cx="1404000" cy="14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12000" y="8748000"/>
            <a:ext cx="165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85"/>
              </a:lnSpc>
            </a:pPr>
            <a:r>
              <a:rPr sz="1100" b="1" i="0" spc="154">
                <a:solidFill>
                  <a:srgbClr val="C2B5A9"/>
                </a:solidFill>
                <a:latin typeface="Barlow Condensed"/>
              </a:rPr>
              <a:t>APONTE A CÂMERA</a:t>
            </a:r>
          </a:p>
        </p:txBody>
      </p:sp>
      <p:pic>
        <p:nvPicPr>
          <p:cNvPr id="30" name="Picture 29" descr="checkmate_logo_claro_9a1d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967" y="9594000"/>
            <a:ext cx="1466181" cy="252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470149" y="9486000"/>
            <a:ext cx="10800" cy="468000"/>
          </a:xfrm>
          <a:prstGeom prst="rect">
            <a:avLst/>
          </a:prstGeom>
          <a:solidFill>
            <a:srgbClr val="C2B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iqsy_logo_claro_7c21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0149" y="9450000"/>
            <a:ext cx="1185882" cy="504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016032" y="9486000"/>
            <a:ext cx="10800" cy="468000"/>
          </a:xfrm>
          <a:prstGeom prst="rect">
            <a:avLst/>
          </a:prstGeom>
          <a:solidFill>
            <a:srgbClr val="C2B5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baldo_selo_claro_e5d08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6032" y="9432000"/>
            <a:ext cx="540861" cy="540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6000" y="101160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52"/>
              </a:lnSpc>
            </a:pPr>
            <a:r>
              <a:rPr sz="1150" b="1" i="0" spc="184">
                <a:solidFill>
                  <a:srgbClr val="C2B5A9"/>
                </a:solidFill>
                <a:latin typeface="Barlow Condensed"/>
              </a:rPr>
              <a:t>MARCAS BALDO  ·  APAIXONADOS POR MATE DESDE 1920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Checkmate e Liqsy | Portfólio de bebidas</dc:title>
  <dc:subject/>
  <dc:creator>Felipe, representante comercial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